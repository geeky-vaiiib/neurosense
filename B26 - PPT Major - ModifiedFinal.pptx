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ctrTitle"/>
          </p:nvPr>
        </p:nvSpPr>
        <p:spPr>
          <a:xfrm>
            <a:off x="685800" y="980727"/>
            <a:ext cx="7772400" cy="2805463"/>
          </a:xfrm>
          <a:prstGeom prst="rect">
            <a:avLst/>
          </a:prstGeom>
        </p:spPr>
        <p:txBody>
          <a:bodyPr/>
          <a:lstStyle/>
          <a:p>
            <a:pPr defTabSz="740663">
              <a:defRPr sz="1944">
                <a:latin typeface="Book Antiqua"/>
                <a:ea typeface="Book Antiqua"/>
                <a:cs typeface="Book Antiqua"/>
                <a:sym typeface="Book Antiqua"/>
              </a:defRPr>
            </a:pPr>
            <a:br/>
            <a:br/>
            <a:br/>
            <a:r>
              <a:t>Major Project First Review Presentation </a:t>
            </a:r>
            <a:br/>
            <a:r>
              <a:t>on</a:t>
            </a:r>
            <a:br/>
            <a:r>
              <a:rPr b="1" sz="2187">
                <a:solidFill>
                  <a:srgbClr val="376092"/>
                </a:solidFill>
                <a:latin typeface="Times New Roman"/>
                <a:ea typeface="Times New Roman"/>
                <a:cs typeface="Times New Roman"/>
                <a:sym typeface="Times New Roman"/>
              </a:rPr>
              <a:t>NeuroSense : Multimodal Autism Spectrum Disorder Screening System</a:t>
            </a:r>
            <a:br>
              <a:rPr b="1" sz="2187">
                <a:solidFill>
                  <a:srgbClr val="376092"/>
                </a:solidFill>
                <a:latin typeface="Times New Roman"/>
                <a:ea typeface="Times New Roman"/>
                <a:cs typeface="Times New Roman"/>
                <a:sym typeface="Times New Roman"/>
              </a:rPr>
            </a:br>
            <a:br>
              <a:rPr b="1" sz="2187">
                <a:solidFill>
                  <a:srgbClr val="376092"/>
                </a:solidFill>
                <a:latin typeface="Times New Roman"/>
                <a:ea typeface="Times New Roman"/>
                <a:cs typeface="Times New Roman"/>
                <a:sym typeface="Times New Roman"/>
              </a:rPr>
            </a:br>
          </a:p>
        </p:txBody>
      </p:sp>
      <p:sp>
        <p:nvSpPr>
          <p:cNvPr id="95" name="Subtitle 2"/>
          <p:cNvSpPr txBox="1"/>
          <p:nvPr>
            <p:ph type="subTitle" sz="quarter" idx="1"/>
          </p:nvPr>
        </p:nvSpPr>
        <p:spPr>
          <a:xfrm>
            <a:off x="5910347" y="5125818"/>
            <a:ext cx="5112570" cy="1524001"/>
          </a:xfrm>
          <a:prstGeom prst="rect">
            <a:avLst/>
          </a:prstGeom>
        </p:spPr>
        <p:txBody>
          <a:bodyPr/>
          <a:lstStyle/>
          <a:p>
            <a:pPr algn="l">
              <a:spcBef>
                <a:spcPts val="400"/>
              </a:spcBef>
              <a:defRPr b="1" sz="2000">
                <a:solidFill>
                  <a:srgbClr val="000000"/>
                </a:solidFill>
                <a:latin typeface="Bookman Old Style"/>
                <a:ea typeface="Bookman Old Style"/>
                <a:cs typeface="Bookman Old Style"/>
                <a:sym typeface="Bookman Old Style"/>
              </a:defRPr>
            </a:pPr>
            <a:r>
              <a:t>By</a:t>
            </a:r>
          </a:p>
          <a:p>
            <a:pPr algn="l">
              <a:spcBef>
                <a:spcPts val="0"/>
              </a:spcBef>
              <a:defRPr sz="1800">
                <a:solidFill>
                  <a:srgbClr val="000000"/>
                </a:solidFill>
                <a:latin typeface="Book Antiqua"/>
                <a:ea typeface="Book Antiqua"/>
                <a:cs typeface="Book Antiqua"/>
                <a:sym typeface="Book Antiqua"/>
              </a:defRPr>
            </a:pPr>
            <a:r>
              <a:t>Suman Bhat [1SI23IS108]</a:t>
            </a:r>
          </a:p>
          <a:p>
            <a:pPr algn="l">
              <a:spcBef>
                <a:spcPts val="0"/>
              </a:spcBef>
              <a:defRPr sz="1800">
                <a:solidFill>
                  <a:srgbClr val="000000"/>
                </a:solidFill>
                <a:latin typeface="Book Antiqua"/>
                <a:ea typeface="Book Antiqua"/>
                <a:cs typeface="Book Antiqua"/>
                <a:sym typeface="Book Antiqua"/>
              </a:defRPr>
            </a:pPr>
            <a:r>
              <a:t>Vaibhav J P [1SI23IS117]</a:t>
            </a:r>
          </a:p>
          <a:p>
            <a:pPr algn="l">
              <a:spcBef>
                <a:spcPts val="0"/>
              </a:spcBef>
              <a:defRPr sz="1800">
                <a:solidFill>
                  <a:srgbClr val="000000"/>
                </a:solidFill>
                <a:latin typeface="Book Antiqua"/>
                <a:ea typeface="Book Antiqua"/>
                <a:cs typeface="Book Antiqua"/>
                <a:sym typeface="Book Antiqua"/>
              </a:defRPr>
            </a:pPr>
            <a:r>
              <a:t>Vrushank G [1SI23IS126]</a:t>
            </a:r>
            <a:br/>
            <a:r>
              <a:t>Y Darshan [1SI23IS127]</a:t>
            </a:r>
          </a:p>
        </p:txBody>
      </p:sp>
      <p:sp>
        <p:nvSpPr>
          <p:cNvPr id="96" name="Text Box 9"/>
          <p:cNvSpPr txBox="1"/>
          <p:nvPr/>
        </p:nvSpPr>
        <p:spPr>
          <a:xfrm>
            <a:off x="579119" y="3429001"/>
            <a:ext cx="3652977" cy="156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2000">
                <a:latin typeface="Bookman Old Style"/>
                <a:ea typeface="Bookman Old Style"/>
                <a:cs typeface="Bookman Old Style"/>
                <a:sym typeface="Bookman Old Style"/>
              </a:defRPr>
            </a:pPr>
            <a:r>
              <a:t>Under the guidance of</a:t>
            </a:r>
          </a:p>
          <a:p>
            <a:pPr>
              <a:defRPr b="1" sz="1600">
                <a:latin typeface="Times New Roman"/>
                <a:ea typeface="Times New Roman"/>
                <a:cs typeface="Times New Roman"/>
                <a:sym typeface="Times New Roman"/>
              </a:defRPr>
            </a:pPr>
            <a:r>
              <a:t>Mrs. Rajarajeshwari </a:t>
            </a:r>
          </a:p>
          <a:p>
            <a:pPr>
              <a:defRPr sz="1600">
                <a:latin typeface="Bookman Old Style"/>
                <a:ea typeface="Bookman Old Style"/>
                <a:cs typeface="Bookman Old Style"/>
                <a:sym typeface="Bookman Old Style"/>
              </a:defRPr>
            </a:pPr>
            <a:r>
              <a:t>Assistant Professor</a:t>
            </a:r>
          </a:p>
          <a:p>
            <a:pPr>
              <a:defRPr sz="1600">
                <a:latin typeface="Bookman Old Style"/>
                <a:ea typeface="Bookman Old Style"/>
                <a:cs typeface="Bookman Old Style"/>
                <a:sym typeface="Bookman Old Style"/>
              </a:defRPr>
            </a:pPr>
            <a:r>
              <a:t>Dept. of ISE, SIT, Tumakuru</a:t>
            </a:r>
          </a:p>
        </p:txBody>
      </p:sp>
      <p:sp>
        <p:nvSpPr>
          <p:cNvPr id="97" name="Straight Connector 9"/>
          <p:cNvSpPr/>
          <p:nvPr/>
        </p:nvSpPr>
        <p:spPr>
          <a:xfrm>
            <a:off x="533400" y="4800600"/>
            <a:ext cx="8153400" cy="0"/>
          </a:xfrm>
          <a:prstGeom prst="line">
            <a:avLst/>
          </a:prstGeom>
          <a:ln w="38100">
            <a:solidFill>
              <a:schemeClr val="accent1"/>
            </a:solidFill>
          </a:ln>
          <a:effectLst>
            <a:outerShdw sx="100000" sy="100000" kx="0" ky="0" algn="b" rotWithShape="0" blurRad="38100" dist="23000" dir="5400000">
              <a:srgbClr val="000000">
                <a:alpha val="35000"/>
              </a:srgbClr>
            </a:outerShdw>
          </a:effectLst>
        </p:spPr>
        <p:txBody>
          <a:bodyPr lIns="45719" rIns="45719"/>
          <a:lstStyle/>
          <a:p>
            <a:pPr/>
          </a:p>
        </p:txBody>
      </p:sp>
      <p:grpSp>
        <p:nvGrpSpPr>
          <p:cNvPr id="100" name="Title 1"/>
          <p:cNvGrpSpPr/>
          <p:nvPr/>
        </p:nvGrpSpPr>
        <p:grpSpPr>
          <a:xfrm>
            <a:off x="0" y="-3"/>
            <a:ext cx="9144000" cy="1600435"/>
            <a:chOff x="0" y="-1"/>
            <a:chExt cx="9144000" cy="1600433"/>
          </a:xfrm>
        </p:grpSpPr>
        <p:sp>
          <p:nvSpPr>
            <p:cNvPr id="98" name="Rectangle"/>
            <p:cNvSpPr/>
            <p:nvPr/>
          </p:nvSpPr>
          <p:spPr>
            <a:xfrm>
              <a:off x="0" y="-2"/>
              <a:ext cx="9144000" cy="1600435"/>
            </a:xfrm>
            <a:prstGeom prst="rect">
              <a:avLst/>
            </a:prstGeom>
            <a:solidFill>
              <a:schemeClr val="accent3"/>
            </a:solidFill>
            <a:ln w="9525" cap="flat">
              <a:solidFill>
                <a:schemeClr val="accent1"/>
              </a:solidFill>
              <a:prstDash val="solid"/>
              <a:round/>
            </a:ln>
            <a:effectLst/>
          </p:spPr>
          <p:txBody>
            <a:bodyPr wrap="square" lIns="45719" tIns="45719" rIns="45719" bIns="45719" numCol="1" anchor="ctr">
              <a:noAutofit/>
            </a:bodyPr>
            <a:lstStyle/>
            <a:p>
              <a:pPr algn="ctr">
                <a:defRPr b="1" sz="2400">
                  <a:latin typeface="Book Antiqua"/>
                  <a:ea typeface="Book Antiqua"/>
                  <a:cs typeface="Book Antiqua"/>
                  <a:sym typeface="Book Antiqua"/>
                </a:defRPr>
              </a:pPr>
            </a:p>
          </p:txBody>
        </p:sp>
        <p:sp>
          <p:nvSpPr>
            <p:cNvPr id="99" name="SIDDAGANGA INSTITUTE OF TECHNOLOGY,  TUMKUR…"/>
            <p:cNvSpPr txBox="1"/>
            <p:nvPr/>
          </p:nvSpPr>
          <p:spPr>
            <a:xfrm>
              <a:off x="50482" y="202045"/>
              <a:ext cx="9043036" cy="1196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a:latin typeface="Book Antiqua"/>
                  <a:ea typeface="Book Antiqua"/>
                  <a:cs typeface="Book Antiqua"/>
                  <a:sym typeface="Book Antiqua"/>
                </a:defRPr>
              </a:pPr>
              <a:r>
                <a:t>                    </a:t>
              </a:r>
              <a:r>
                <a:rPr sz="2400"/>
                <a:t>SIDDAGANGA INSTITUTE OF TECHNOLOGY,  TUMKUR</a:t>
              </a:r>
              <a:endParaRPr sz="2400"/>
            </a:p>
            <a:p>
              <a:pPr algn="ctr">
                <a:defRPr b="1" sz="2400">
                  <a:latin typeface="Book Antiqua"/>
                  <a:ea typeface="Book Antiqua"/>
                  <a:cs typeface="Book Antiqua"/>
                  <a:sym typeface="Book Antiqua"/>
                </a:defRPr>
              </a:pPr>
              <a:r>
                <a:t>                 Department of Information Science and Engineering</a:t>
              </a:r>
            </a:p>
          </p:txBody>
        </p:sp>
      </p:grpSp>
      <p:pic>
        <p:nvPicPr>
          <p:cNvPr id="101" name="Picture 1" descr="Picture 1"/>
          <p:cNvPicPr>
            <a:picLocks noChangeAspect="1"/>
          </p:cNvPicPr>
          <p:nvPr/>
        </p:nvPicPr>
        <p:blipFill>
          <a:blip r:embed="rId2">
            <a:extLst/>
          </a:blip>
          <a:stretch>
            <a:fillRect/>
          </a:stretch>
        </p:blipFill>
        <p:spPr>
          <a:xfrm>
            <a:off x="179511" y="56775"/>
            <a:ext cx="1344969" cy="1371601"/>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Title 1"/>
          <p:cNvSpPr txBox="1"/>
          <p:nvPr>
            <p:ph type="title"/>
          </p:nvPr>
        </p:nvSpPr>
        <p:spPr>
          <a:xfrm>
            <a:off x="457200" y="274638"/>
            <a:ext cx="8229600" cy="715963"/>
          </a:xfrm>
          <a:prstGeom prst="rect">
            <a:avLst/>
          </a:prstGeom>
        </p:spPr>
        <p:txBody>
          <a:bodyPr/>
          <a:lstStyle>
            <a:lvl1pPr>
              <a:defRPr b="1" sz="3600">
                <a:solidFill>
                  <a:schemeClr val="accent3"/>
                </a:solidFill>
                <a:latin typeface="Times New Roman"/>
                <a:ea typeface="Times New Roman"/>
                <a:cs typeface="Times New Roman"/>
                <a:sym typeface="Times New Roman"/>
              </a:defRPr>
            </a:lvl1pPr>
          </a:lstStyle>
          <a:p>
            <a:pPr/>
            <a:r>
              <a:t>OUTLINE</a:t>
            </a:r>
          </a:p>
        </p:txBody>
      </p:sp>
      <p:sp>
        <p:nvSpPr>
          <p:cNvPr id="104" name="Content Placeholder 2"/>
          <p:cNvSpPr txBox="1"/>
          <p:nvPr>
            <p:ph type="body" idx="1"/>
          </p:nvPr>
        </p:nvSpPr>
        <p:spPr>
          <a:xfrm>
            <a:off x="304800" y="990599"/>
            <a:ext cx="8534400" cy="5332493"/>
          </a:xfrm>
          <a:prstGeom prst="rect">
            <a:avLst/>
          </a:prstGeom>
        </p:spPr>
        <p:txBody>
          <a:bodyPr/>
          <a:lstStyle/>
          <a:p>
            <a:pPr>
              <a:spcBef>
                <a:spcPts val="0"/>
              </a:spcBef>
              <a:defRPr b="1" sz="2400">
                <a:latin typeface="Times New Roman"/>
                <a:ea typeface="Times New Roman"/>
                <a:cs typeface="Times New Roman"/>
                <a:sym typeface="Times New Roman"/>
              </a:defRPr>
            </a:pPr>
            <a:r>
              <a:t>Introduction</a:t>
            </a:r>
          </a:p>
          <a:p>
            <a:pPr>
              <a:spcBef>
                <a:spcPts val="500"/>
              </a:spcBef>
              <a:defRPr b="1" sz="2400">
                <a:latin typeface="Times New Roman"/>
                <a:ea typeface="Times New Roman"/>
                <a:cs typeface="Times New Roman"/>
                <a:sym typeface="Times New Roman"/>
              </a:defRPr>
            </a:pPr>
            <a:r>
              <a:t>Problem statement</a:t>
            </a:r>
          </a:p>
          <a:p>
            <a:pPr>
              <a:spcBef>
                <a:spcPts val="500"/>
              </a:spcBef>
              <a:defRPr b="1" sz="2400">
                <a:latin typeface="Times New Roman"/>
                <a:ea typeface="Times New Roman"/>
                <a:cs typeface="Times New Roman"/>
                <a:sym typeface="Times New Roman"/>
              </a:defRPr>
            </a:pPr>
            <a:r>
              <a:t>Objectives</a:t>
            </a:r>
          </a:p>
          <a:p>
            <a:pPr>
              <a:spcBef>
                <a:spcPts val="500"/>
              </a:spcBef>
              <a:defRPr b="1" sz="2400">
                <a:latin typeface="Times New Roman"/>
                <a:ea typeface="Times New Roman"/>
                <a:cs typeface="Times New Roman"/>
                <a:sym typeface="Times New Roman"/>
              </a:defRPr>
            </a:pPr>
            <a:r>
              <a:t>Literature Survey</a:t>
            </a:r>
          </a:p>
          <a:p>
            <a:pPr>
              <a:spcBef>
                <a:spcPts val="500"/>
              </a:spcBef>
              <a:defRPr b="1" sz="2400">
                <a:latin typeface="Times New Roman"/>
                <a:ea typeface="Times New Roman"/>
                <a:cs typeface="Times New Roman"/>
                <a:sym typeface="Times New Roman"/>
              </a:defRPr>
            </a:pPr>
            <a:r>
              <a:t>Proposed work</a:t>
            </a:r>
          </a:p>
          <a:p>
            <a:pPr>
              <a:spcBef>
                <a:spcPts val="500"/>
              </a:spcBef>
              <a:defRPr b="1" sz="2400">
                <a:latin typeface="Times New Roman"/>
                <a:ea typeface="Times New Roman"/>
                <a:cs typeface="Times New Roman"/>
                <a:sym typeface="Times New Roman"/>
              </a:defRPr>
            </a:pPr>
            <a:r>
              <a:t>System Architecture</a:t>
            </a:r>
          </a:p>
          <a:p>
            <a:pPr>
              <a:spcBef>
                <a:spcPts val="500"/>
              </a:spcBef>
              <a:defRPr b="1" sz="2400">
                <a:latin typeface="Times New Roman"/>
                <a:ea typeface="Times New Roman"/>
                <a:cs typeface="Times New Roman"/>
                <a:sym typeface="Times New Roman"/>
              </a:defRPr>
            </a:pPr>
            <a:r>
              <a:t>Requirements</a:t>
            </a:r>
          </a:p>
          <a:p>
            <a:pPr>
              <a:spcBef>
                <a:spcPts val="500"/>
              </a:spcBef>
              <a:defRPr b="1" sz="2400">
                <a:latin typeface="Times New Roman"/>
                <a:ea typeface="Times New Roman"/>
                <a:cs typeface="Times New Roman"/>
                <a:sym typeface="Times New Roman"/>
              </a:defRPr>
            </a:pPr>
            <a:r>
              <a:t>Application</a:t>
            </a:r>
          </a:p>
          <a:p>
            <a:pPr>
              <a:spcBef>
                <a:spcPts val="500"/>
              </a:spcBef>
              <a:defRPr b="1" sz="2400">
                <a:latin typeface="Times New Roman"/>
                <a:ea typeface="Times New Roman"/>
                <a:cs typeface="Times New Roman"/>
                <a:sym typeface="Times New Roman"/>
              </a:defRPr>
            </a:pPr>
            <a:r>
              <a:t>Conclusion</a:t>
            </a:r>
          </a:p>
          <a:p>
            <a:pPr>
              <a:spcBef>
                <a:spcPts val="500"/>
              </a:spcBef>
              <a:defRPr b="1" sz="2400">
                <a:latin typeface="Times New Roman"/>
                <a:ea typeface="Times New Roman"/>
                <a:cs typeface="Times New Roman"/>
                <a:sym typeface="Times New Roman"/>
              </a:defRPr>
            </a:pPr>
            <a:r>
              <a:t>References</a:t>
            </a:r>
          </a:p>
        </p:txBody>
      </p:sp>
      <p:sp>
        <p:nvSpPr>
          <p:cNvPr id="105" name="Slide Number Placeholder 9"/>
          <p:cNvSpPr txBox="1"/>
          <p:nvPr>
            <p:ph type="sldNum" sz="quarter" idx="2"/>
          </p:nvPr>
        </p:nvSpPr>
        <p:spPr>
          <a:xfrm>
            <a:off x="8505418" y="6414760"/>
            <a:ext cx="181382"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108" name="Title 1"/>
          <p:cNvGrpSpPr/>
          <p:nvPr/>
        </p:nvGrpSpPr>
        <p:grpSpPr>
          <a:xfrm>
            <a:off x="0" y="-14144"/>
            <a:ext cx="9144000" cy="333088"/>
            <a:chOff x="0" y="0"/>
            <a:chExt cx="9144000" cy="333087"/>
          </a:xfrm>
        </p:grpSpPr>
        <p:sp>
          <p:nvSpPr>
            <p:cNvPr id="106" name="Rectangle"/>
            <p:cNvSpPr/>
            <p:nvPr/>
          </p:nvSpPr>
          <p:spPr>
            <a:xfrm>
              <a:off x="0" y="14143"/>
              <a:ext cx="9144000" cy="304801"/>
            </a:xfrm>
            <a:prstGeom prst="rect">
              <a:avLst/>
            </a:prstGeom>
            <a:solidFill>
              <a:srgbClr val="558ED5"/>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107" name="Outline"/>
            <p:cNvSpPr txBox="1"/>
            <p:nvPr/>
          </p:nvSpPr>
          <p:spPr>
            <a:xfrm>
              <a:off x="45719" y="0"/>
              <a:ext cx="9052561"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vl1pPr>
            </a:lstStyle>
            <a:p>
              <a:pPr/>
              <a:r>
                <a:t>Outline</a:t>
              </a:r>
            </a:p>
          </p:txBody>
        </p:sp>
      </p:grpSp>
      <p:grpSp>
        <p:nvGrpSpPr>
          <p:cNvPr id="111" name="Footer Placeholder 6"/>
          <p:cNvGrpSpPr/>
          <p:nvPr/>
        </p:nvGrpSpPr>
        <p:grpSpPr>
          <a:xfrm>
            <a:off x="0" y="6492875"/>
            <a:ext cx="9144000" cy="365125"/>
            <a:chOff x="0" y="0"/>
            <a:chExt cx="9144000" cy="365125"/>
          </a:xfrm>
        </p:grpSpPr>
        <p:sp>
          <p:nvSpPr>
            <p:cNvPr id="109"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110"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a:t>
              </a:r>
            </a:p>
          </p:txBody>
        </p:sp>
      </p:grpSp>
      <p:pic>
        <p:nvPicPr>
          <p:cNvPr id="112" name="Picture 1" descr="Picture 1"/>
          <p:cNvPicPr>
            <a:picLocks noChangeAspect="1"/>
          </p:cNvPicPr>
          <p:nvPr/>
        </p:nvPicPr>
        <p:blipFill>
          <a:blip r:embed="rId2">
            <a:extLst/>
          </a:blip>
          <a:stretch>
            <a:fillRect/>
          </a:stretch>
        </p:blipFill>
        <p:spPr>
          <a:xfrm>
            <a:off x="76200" y="6475491"/>
            <a:ext cx="375082" cy="382510"/>
          </a:xfrm>
          <a:prstGeom prst="rect">
            <a:avLst/>
          </a:prstGeom>
          <a:ln w="12700">
            <a:miter lim="400000"/>
          </a:ln>
        </p:spPr>
      </p:pic>
      <p:sp>
        <p:nvSpPr>
          <p:cNvPr id="113" name="TextBox 3"/>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17" name="Title 1"/>
          <p:cNvGrpSpPr/>
          <p:nvPr/>
        </p:nvGrpSpPr>
        <p:grpSpPr>
          <a:xfrm>
            <a:off x="0" y="0"/>
            <a:ext cx="9144000" cy="304800"/>
            <a:chOff x="0" y="33020"/>
            <a:chExt cx="9144000" cy="304800"/>
          </a:xfrm>
        </p:grpSpPr>
        <p:sp>
          <p:nvSpPr>
            <p:cNvPr id="115" name="Rectangle"/>
            <p:cNvSpPr/>
            <p:nvPr/>
          </p:nvSpPr>
          <p:spPr>
            <a:xfrm>
              <a:off x="0" y="33020"/>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116" name="Introduction"/>
            <p:cNvSpPr/>
            <p:nvPr/>
          </p:nvSpPr>
          <p:spPr>
            <a:xfrm>
              <a:off x="45719" y="185420"/>
              <a:ext cx="905256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Book Antiqua"/>
                  <a:ea typeface="Book Antiqua"/>
                  <a:cs typeface="Book Antiqua"/>
                  <a:sym typeface="Book Antiqua"/>
                </a:defRPr>
              </a:lvl1pPr>
            </a:lstStyle>
            <a:p>
              <a:pPr/>
              <a:r>
                <a:t>Introduction</a:t>
              </a:r>
            </a:p>
          </p:txBody>
        </p:sp>
      </p:grpSp>
      <p:sp>
        <p:nvSpPr>
          <p:cNvPr id="118" name="Title 1"/>
          <p:cNvSpPr txBox="1"/>
          <p:nvPr>
            <p:ph type="title"/>
          </p:nvPr>
        </p:nvSpPr>
        <p:spPr>
          <a:xfrm>
            <a:off x="0" y="488751"/>
            <a:ext cx="9144001" cy="533401"/>
          </a:xfrm>
          <a:prstGeom prst="rect">
            <a:avLst/>
          </a:prstGeom>
        </p:spPr>
        <p:txBody>
          <a:bodyPr/>
          <a:lstStyle>
            <a:lvl1pPr defTabSz="804672">
              <a:defRPr b="1" sz="3168">
                <a:solidFill>
                  <a:schemeClr val="accent3"/>
                </a:solidFill>
                <a:latin typeface="Times New Roman"/>
                <a:ea typeface="Times New Roman"/>
                <a:cs typeface="Times New Roman"/>
                <a:sym typeface="Times New Roman"/>
              </a:defRPr>
            </a:lvl1pPr>
          </a:lstStyle>
          <a:p>
            <a:pPr/>
            <a:r>
              <a:t>INTRODUCTION</a:t>
            </a:r>
          </a:p>
        </p:txBody>
      </p:sp>
      <p:sp>
        <p:nvSpPr>
          <p:cNvPr id="119" name="Slide Number Placeholder 6"/>
          <p:cNvSpPr txBox="1"/>
          <p:nvPr>
            <p:ph type="sldNum" sz="quarter" idx="2"/>
          </p:nvPr>
        </p:nvSpPr>
        <p:spPr>
          <a:xfrm>
            <a:off x="8505418" y="6414760"/>
            <a:ext cx="181382"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122" name="Footer Placeholder 6"/>
          <p:cNvGrpSpPr/>
          <p:nvPr/>
        </p:nvGrpSpPr>
        <p:grpSpPr>
          <a:xfrm>
            <a:off x="0" y="6492875"/>
            <a:ext cx="9144000" cy="365125"/>
            <a:chOff x="0" y="0"/>
            <a:chExt cx="9144000" cy="365125"/>
          </a:xfrm>
        </p:grpSpPr>
        <p:sp>
          <p:nvSpPr>
            <p:cNvPr id="120"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121"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a:t>
              </a:r>
            </a:p>
          </p:txBody>
        </p:sp>
      </p:grpSp>
      <p:pic>
        <p:nvPicPr>
          <p:cNvPr id="123" name="Picture 1" descr="Picture 1"/>
          <p:cNvPicPr>
            <a:picLocks noChangeAspect="1"/>
          </p:cNvPicPr>
          <p:nvPr/>
        </p:nvPicPr>
        <p:blipFill>
          <a:blip r:embed="rId2">
            <a:extLst/>
          </a:blip>
          <a:stretch>
            <a:fillRect/>
          </a:stretch>
        </p:blipFill>
        <p:spPr>
          <a:xfrm>
            <a:off x="76200" y="6475491"/>
            <a:ext cx="375082" cy="382510"/>
          </a:xfrm>
          <a:prstGeom prst="rect">
            <a:avLst/>
          </a:prstGeom>
          <a:ln w="12700">
            <a:miter lim="400000"/>
          </a:ln>
        </p:spPr>
      </p:pic>
      <p:sp>
        <p:nvSpPr>
          <p:cNvPr id="124" name="Rectangle 2"/>
          <p:cNvSpPr txBox="1"/>
          <p:nvPr/>
        </p:nvSpPr>
        <p:spPr>
          <a:xfrm>
            <a:off x="61409" y="1189020"/>
            <a:ext cx="8826054" cy="492366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gn="just">
              <a:buSzPct val="100000"/>
              <a:buFont typeface="Arial"/>
              <a:buChar char="•"/>
              <a:defRPr sz="2400">
                <a:latin typeface="Times New Roman"/>
                <a:ea typeface="Times New Roman"/>
                <a:cs typeface="Times New Roman"/>
                <a:sym typeface="Times New Roman"/>
              </a:defRPr>
            </a:pPr>
            <a:r>
              <a:t>Autism Spectrum Disorder (ASD) affects communication, behavior, and social interaction</a:t>
            </a:r>
          </a:p>
          <a:p>
            <a:pPr algn="just">
              <a:defRPr sz="2400">
                <a:latin typeface="Times New Roman"/>
                <a:ea typeface="Times New Roman"/>
                <a:cs typeface="Times New Roman"/>
                <a:sym typeface="Times New Roman"/>
              </a:defRPr>
            </a:pPr>
          </a:p>
          <a:p>
            <a:pPr marL="342900" indent="-342900" algn="just">
              <a:buSzPct val="100000"/>
              <a:buFont typeface="Arial"/>
              <a:buChar char="•"/>
              <a:defRPr sz="2400">
                <a:latin typeface="Times New Roman"/>
                <a:ea typeface="Times New Roman"/>
                <a:cs typeface="Times New Roman"/>
                <a:sym typeface="Times New Roman"/>
              </a:defRPr>
            </a:pPr>
            <a:r>
              <a:t>Early detection is difficult due to reliance on manual and subjective methods.</a:t>
            </a:r>
          </a:p>
          <a:p>
            <a:pPr algn="just">
              <a:defRPr sz="2400">
                <a:latin typeface="Times New Roman"/>
                <a:ea typeface="Times New Roman"/>
                <a:cs typeface="Times New Roman"/>
                <a:sym typeface="Times New Roman"/>
              </a:defRPr>
            </a:pPr>
          </a:p>
          <a:p>
            <a:pPr marL="342900" indent="-342900" algn="just">
              <a:buSzPct val="100000"/>
              <a:buFont typeface="Arial"/>
              <a:buChar char="•"/>
              <a:defRPr sz="2400">
                <a:latin typeface="Times New Roman"/>
                <a:ea typeface="Times New Roman"/>
                <a:cs typeface="Times New Roman"/>
                <a:sym typeface="Times New Roman"/>
              </a:defRPr>
            </a:pPr>
            <a:r>
              <a:t>Limited availability of specialists leads to delayed diagnosis.</a:t>
            </a:r>
          </a:p>
          <a:p>
            <a:pPr algn="just">
              <a:defRPr sz="2400">
                <a:latin typeface="Times New Roman"/>
                <a:ea typeface="Times New Roman"/>
                <a:cs typeface="Times New Roman"/>
                <a:sym typeface="Times New Roman"/>
              </a:defRPr>
            </a:pPr>
          </a:p>
          <a:p>
            <a:pPr marL="342900" indent="-342900" algn="just">
              <a:buSzPct val="100000"/>
              <a:buFont typeface="Arial"/>
              <a:buChar char="•"/>
              <a:defRPr sz="2400">
                <a:latin typeface="Times New Roman"/>
                <a:ea typeface="Times New Roman"/>
                <a:cs typeface="Times New Roman"/>
                <a:sym typeface="Times New Roman"/>
              </a:defRPr>
            </a:pPr>
            <a:r>
              <a:t>AI-based systems can improve early screening using multiple data inputs.</a:t>
            </a:r>
            <a:br/>
          </a:p>
          <a:p>
            <a:pPr marL="342900" indent="-342900" algn="just">
              <a:buSzPct val="100000"/>
              <a:buFont typeface="Arial"/>
              <a:buChar char="•"/>
              <a:defRPr sz="2400">
                <a:latin typeface="Times New Roman"/>
                <a:ea typeface="Times New Roman"/>
                <a:cs typeface="Times New Roman"/>
                <a:sym typeface="Times New Roman"/>
              </a:defRPr>
            </a:pPr>
            <a:r>
              <a:t>This creates the need for an intelligent and automated screening system</a:t>
            </a:r>
          </a:p>
          <a:p>
            <a:pPr defTabSz="457200">
              <a:defRPr sz="1200">
                <a:latin typeface="Times New Roman"/>
                <a:ea typeface="Times New Roman"/>
                <a:cs typeface="Times New Roman"/>
                <a:sym typeface="Times New Roman"/>
              </a:defRPr>
            </a:pPr>
          </a:p>
        </p:txBody>
      </p:sp>
      <p:sp>
        <p:nvSpPr>
          <p:cNvPr id="125" name="TextBox 5"/>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Title 1"/>
          <p:cNvSpPr txBox="1"/>
          <p:nvPr>
            <p:ph type="ctrTitle"/>
          </p:nvPr>
        </p:nvSpPr>
        <p:spPr>
          <a:xfrm>
            <a:off x="0" y="826118"/>
            <a:ext cx="9144000" cy="648073"/>
          </a:xfrm>
          <a:prstGeom prst="rect">
            <a:avLst/>
          </a:prstGeom>
        </p:spPr>
        <p:txBody>
          <a:bodyPr/>
          <a:lstStyle>
            <a:lvl1pPr>
              <a:defRPr b="1" sz="3600">
                <a:solidFill>
                  <a:schemeClr val="accent3"/>
                </a:solidFill>
                <a:latin typeface="Times New Roman"/>
                <a:ea typeface="Times New Roman"/>
                <a:cs typeface="Times New Roman"/>
                <a:sym typeface="Times New Roman"/>
              </a:defRPr>
            </a:lvl1pPr>
          </a:lstStyle>
          <a:p>
            <a:pPr/>
            <a:r>
              <a:t>PROBLEM STATEMENT</a:t>
            </a:r>
          </a:p>
        </p:txBody>
      </p:sp>
      <p:sp>
        <p:nvSpPr>
          <p:cNvPr id="128" name="Subtitle 2"/>
          <p:cNvSpPr txBox="1"/>
          <p:nvPr>
            <p:ph type="subTitle" sz="half" idx="1"/>
          </p:nvPr>
        </p:nvSpPr>
        <p:spPr>
          <a:xfrm>
            <a:off x="219852" y="2192288"/>
            <a:ext cx="8744637" cy="2609878"/>
          </a:xfrm>
          <a:prstGeom prst="rect">
            <a:avLst/>
          </a:prstGeom>
        </p:spPr>
        <p:txBody>
          <a:bodyPr/>
          <a:lstStyle>
            <a:lvl1pPr algn="just">
              <a:spcBef>
                <a:spcPts val="400"/>
              </a:spcBef>
              <a:defRPr sz="2000">
                <a:solidFill>
                  <a:srgbClr val="000000"/>
                </a:solidFill>
                <a:latin typeface="Times New Roman"/>
                <a:ea typeface="Times New Roman"/>
                <a:cs typeface="Times New Roman"/>
                <a:sym typeface="Times New Roman"/>
              </a:defRPr>
            </a:lvl1pPr>
          </a:lstStyle>
          <a:p>
            <a:pPr/>
            <a:r>
              <a:t>Autism Spectrum Disorder is often detected late due to reliance on manual observation, subjective questionnaires, and limited availability of experts. These traditional methods depend heavily on human judgment, which can vary from one evaluator to another. In many regions, lack of awareness and access to trained professionals further delays diagnosis. Existing screening approaches also lack accuracy, consistency, and scalability for large-scale use. Therefore, there is a need for an intelligent, automated, and reliable system that can assist in early ASD screening using multiple behavioural indicators.</a:t>
            </a:r>
          </a:p>
        </p:txBody>
      </p:sp>
      <p:grpSp>
        <p:nvGrpSpPr>
          <p:cNvPr id="131" name="Title 1"/>
          <p:cNvGrpSpPr/>
          <p:nvPr/>
        </p:nvGrpSpPr>
        <p:grpSpPr>
          <a:xfrm>
            <a:off x="0" y="0"/>
            <a:ext cx="9144000" cy="304800"/>
            <a:chOff x="0" y="33020"/>
            <a:chExt cx="9144000" cy="304800"/>
          </a:xfrm>
        </p:grpSpPr>
        <p:sp>
          <p:nvSpPr>
            <p:cNvPr id="129" name="Rectangle"/>
            <p:cNvSpPr/>
            <p:nvPr/>
          </p:nvSpPr>
          <p:spPr>
            <a:xfrm>
              <a:off x="0" y="33020"/>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130" name="Problem Statement"/>
            <p:cNvSpPr/>
            <p:nvPr/>
          </p:nvSpPr>
          <p:spPr>
            <a:xfrm>
              <a:off x="45719" y="185420"/>
              <a:ext cx="905256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Book Antiqua"/>
                  <a:ea typeface="Book Antiqua"/>
                  <a:cs typeface="Book Antiqua"/>
                  <a:sym typeface="Book Antiqua"/>
                </a:defRPr>
              </a:lvl1pPr>
            </a:lstStyle>
            <a:p>
              <a:pPr/>
              <a:r>
                <a:t>Problem Statement</a:t>
              </a:r>
            </a:p>
          </p:txBody>
        </p:sp>
      </p:grpSp>
      <p:grpSp>
        <p:nvGrpSpPr>
          <p:cNvPr id="134" name="Footer Placeholder 6"/>
          <p:cNvGrpSpPr/>
          <p:nvPr/>
        </p:nvGrpSpPr>
        <p:grpSpPr>
          <a:xfrm>
            <a:off x="0" y="6492875"/>
            <a:ext cx="9144000" cy="365125"/>
            <a:chOff x="0" y="0"/>
            <a:chExt cx="9144000" cy="365125"/>
          </a:xfrm>
        </p:grpSpPr>
        <p:sp>
          <p:nvSpPr>
            <p:cNvPr id="132"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133"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                                                                                                     </a:t>
              </a:r>
            </a:p>
          </p:txBody>
        </p:sp>
      </p:grpSp>
      <p:pic>
        <p:nvPicPr>
          <p:cNvPr id="135" name="Picture 1" descr="Picture 1"/>
          <p:cNvPicPr>
            <a:picLocks noChangeAspect="1"/>
          </p:cNvPicPr>
          <p:nvPr/>
        </p:nvPicPr>
        <p:blipFill>
          <a:blip r:embed="rId2">
            <a:extLst/>
          </a:blip>
          <a:stretch>
            <a:fillRect/>
          </a:stretch>
        </p:blipFill>
        <p:spPr>
          <a:xfrm>
            <a:off x="76200" y="6475491"/>
            <a:ext cx="375082" cy="382510"/>
          </a:xfrm>
          <a:prstGeom prst="rect">
            <a:avLst/>
          </a:prstGeom>
          <a:ln w="12700">
            <a:miter lim="400000"/>
          </a:ln>
        </p:spPr>
      </p:pic>
      <p:sp>
        <p:nvSpPr>
          <p:cNvPr id="136" name="TextBox 8"/>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Slide Number Placeholder 3"/>
          <p:cNvSpPr txBox="1"/>
          <p:nvPr>
            <p:ph type="sldNum" sz="quarter" idx="2"/>
          </p:nvPr>
        </p:nvSpPr>
        <p:spPr>
          <a:xfrm>
            <a:off x="8505418" y="6414760"/>
            <a:ext cx="181382"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39" name="Title 1"/>
          <p:cNvSpPr txBox="1"/>
          <p:nvPr/>
        </p:nvSpPr>
        <p:spPr>
          <a:xfrm>
            <a:off x="45719" y="774695"/>
            <a:ext cx="9052561" cy="8640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lgn="ctr">
              <a:defRPr b="1" sz="3600">
                <a:solidFill>
                  <a:schemeClr val="accent3"/>
                </a:solidFill>
                <a:latin typeface="Times New Roman"/>
                <a:ea typeface="Times New Roman"/>
                <a:cs typeface="Times New Roman"/>
                <a:sym typeface="Times New Roman"/>
              </a:defRPr>
            </a:lvl1pPr>
          </a:lstStyle>
          <a:p>
            <a:pPr/>
            <a:r>
              <a:t>OBJECTIVES</a:t>
            </a:r>
          </a:p>
        </p:txBody>
      </p:sp>
      <p:sp>
        <p:nvSpPr>
          <p:cNvPr id="140" name="Rectangle 1"/>
          <p:cNvSpPr txBox="1"/>
          <p:nvPr/>
        </p:nvSpPr>
        <p:spPr>
          <a:xfrm>
            <a:off x="401059" y="1682886"/>
            <a:ext cx="8341881" cy="38779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buSzPct val="100000"/>
              <a:buFont typeface="Arial"/>
              <a:buChar char="•"/>
              <a:defRPr sz="2000">
                <a:latin typeface="Times New Roman"/>
                <a:ea typeface="Times New Roman"/>
                <a:cs typeface="Times New Roman"/>
                <a:sym typeface="Times New Roman"/>
              </a:defRPr>
            </a:pPr>
            <a:r>
              <a:t>To develop an AI-based system for early screening of Autism Spectrum Disorder.</a:t>
            </a:r>
            <a:endParaRPr sz="3200"/>
          </a:p>
          <a:p>
            <a:pPr>
              <a:defRPr sz="2000">
                <a:latin typeface="Times New Roman"/>
                <a:ea typeface="Times New Roman"/>
                <a:cs typeface="Times New Roman"/>
                <a:sym typeface="Times New Roman"/>
              </a:defRPr>
            </a:pPr>
          </a:p>
          <a:p>
            <a:pPr marL="342900" indent="-342900">
              <a:buSzPct val="100000"/>
              <a:buFont typeface="Arial"/>
              <a:buChar char="•"/>
              <a:defRPr sz="2000">
                <a:latin typeface="Times New Roman"/>
                <a:ea typeface="Times New Roman"/>
                <a:cs typeface="Times New Roman"/>
                <a:sym typeface="Times New Roman"/>
              </a:defRPr>
            </a:pPr>
            <a:r>
              <a:t>To analyse behavioural questionnaire data using machine learning techniques.</a:t>
            </a:r>
            <a:endParaRPr sz="3200">
              <a:solidFill>
                <a:srgbClr val="888888"/>
              </a:solidFill>
            </a:endParaRPr>
          </a:p>
          <a:p>
            <a:pPr>
              <a:defRPr sz="2000">
                <a:latin typeface="Times New Roman"/>
                <a:ea typeface="Times New Roman"/>
                <a:cs typeface="Times New Roman"/>
                <a:sym typeface="Times New Roman"/>
              </a:defRPr>
            </a:pPr>
          </a:p>
          <a:p>
            <a:pPr marL="342900" indent="-342900">
              <a:buSzPct val="100000"/>
              <a:buFont typeface="Arial"/>
              <a:buChar char="•"/>
              <a:defRPr sz="2000">
                <a:latin typeface="Times New Roman"/>
                <a:ea typeface="Times New Roman"/>
                <a:cs typeface="Times New Roman"/>
                <a:sym typeface="Times New Roman"/>
              </a:defRPr>
            </a:pPr>
            <a:r>
              <a:t>To detect facial expression patterns using deep learning models.</a:t>
            </a:r>
            <a:endParaRPr sz="3200"/>
          </a:p>
          <a:p>
            <a:pPr>
              <a:defRPr sz="2000">
                <a:latin typeface="Times New Roman"/>
                <a:ea typeface="Times New Roman"/>
                <a:cs typeface="Times New Roman"/>
                <a:sym typeface="Times New Roman"/>
              </a:defRPr>
            </a:pPr>
          </a:p>
          <a:p>
            <a:pPr marL="342900" indent="-342900">
              <a:buSzPct val="100000"/>
              <a:buFont typeface="Arial"/>
              <a:buChar char="•"/>
              <a:defRPr sz="2000">
                <a:latin typeface="Times New Roman"/>
                <a:ea typeface="Times New Roman"/>
                <a:cs typeface="Times New Roman"/>
                <a:sym typeface="Times New Roman"/>
              </a:defRPr>
            </a:pPr>
            <a:r>
              <a:t>To track eye gaze behaviour for identifying attention-related patterns.</a:t>
            </a:r>
            <a:endParaRPr sz="3200">
              <a:solidFill>
                <a:srgbClr val="888888"/>
              </a:solidFill>
            </a:endParaRPr>
          </a:p>
          <a:p>
            <a:pPr>
              <a:defRPr sz="2000">
                <a:latin typeface="Times New Roman"/>
                <a:ea typeface="Times New Roman"/>
                <a:cs typeface="Times New Roman"/>
                <a:sym typeface="Times New Roman"/>
              </a:defRPr>
            </a:pPr>
          </a:p>
          <a:p>
            <a:pPr marL="285750" indent="-285750">
              <a:buSzPct val="100000"/>
              <a:buFont typeface="Arial"/>
              <a:buChar char="•"/>
              <a:defRPr sz="2000">
                <a:latin typeface="Times New Roman"/>
                <a:ea typeface="Times New Roman"/>
                <a:cs typeface="Times New Roman"/>
                <a:sym typeface="Times New Roman"/>
              </a:defRPr>
            </a:pPr>
            <a:r>
              <a:t>To analyse speech signals for detecting communication irregularities.</a:t>
            </a:r>
            <a:br/>
          </a:p>
          <a:p>
            <a:pPr marL="342900" indent="-342900">
              <a:buSzPct val="100000"/>
              <a:buFont typeface="Arial"/>
              <a:buChar char="•"/>
              <a:defRPr sz="2000">
                <a:latin typeface="Times New Roman"/>
                <a:ea typeface="Times New Roman"/>
                <a:cs typeface="Times New Roman"/>
                <a:sym typeface="Times New Roman"/>
              </a:defRPr>
            </a:pPr>
            <a:r>
              <a:t>To integrate multiple data sources using a multimodal fusion approach.</a:t>
            </a:r>
          </a:p>
        </p:txBody>
      </p:sp>
      <p:grpSp>
        <p:nvGrpSpPr>
          <p:cNvPr id="143" name="Title 1"/>
          <p:cNvGrpSpPr/>
          <p:nvPr/>
        </p:nvGrpSpPr>
        <p:grpSpPr>
          <a:xfrm>
            <a:off x="0" y="0"/>
            <a:ext cx="9144000" cy="304800"/>
            <a:chOff x="0" y="33020"/>
            <a:chExt cx="9144000" cy="304800"/>
          </a:xfrm>
        </p:grpSpPr>
        <p:sp>
          <p:nvSpPr>
            <p:cNvPr id="141" name="Rectangle"/>
            <p:cNvSpPr/>
            <p:nvPr/>
          </p:nvSpPr>
          <p:spPr>
            <a:xfrm>
              <a:off x="0" y="33020"/>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142" name="Problem Statement"/>
            <p:cNvSpPr/>
            <p:nvPr/>
          </p:nvSpPr>
          <p:spPr>
            <a:xfrm>
              <a:off x="45719" y="185420"/>
              <a:ext cx="905256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Book Antiqua"/>
                  <a:ea typeface="Book Antiqua"/>
                  <a:cs typeface="Book Antiqua"/>
                  <a:sym typeface="Book Antiqua"/>
                </a:defRPr>
              </a:lvl1pPr>
            </a:lstStyle>
            <a:p>
              <a:pPr/>
              <a:r>
                <a:t>Problem Statement</a:t>
              </a:r>
            </a:p>
          </p:txBody>
        </p:sp>
      </p:grpSp>
      <p:grpSp>
        <p:nvGrpSpPr>
          <p:cNvPr id="146" name="Footer Placeholder 6"/>
          <p:cNvGrpSpPr/>
          <p:nvPr/>
        </p:nvGrpSpPr>
        <p:grpSpPr>
          <a:xfrm>
            <a:off x="0" y="6492875"/>
            <a:ext cx="9144000" cy="365125"/>
            <a:chOff x="0" y="0"/>
            <a:chExt cx="9144000" cy="365125"/>
          </a:xfrm>
        </p:grpSpPr>
        <p:sp>
          <p:nvSpPr>
            <p:cNvPr id="144"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145"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a:t>
              </a:r>
            </a:p>
          </p:txBody>
        </p:sp>
      </p:grpSp>
      <p:pic>
        <p:nvPicPr>
          <p:cNvPr id="147" name="Picture 1" descr="Picture 1"/>
          <p:cNvPicPr>
            <a:picLocks noChangeAspect="1"/>
          </p:cNvPicPr>
          <p:nvPr/>
        </p:nvPicPr>
        <p:blipFill>
          <a:blip r:embed="rId2">
            <a:extLst/>
          </a:blip>
          <a:stretch>
            <a:fillRect/>
          </a:stretch>
        </p:blipFill>
        <p:spPr>
          <a:xfrm>
            <a:off x="76200" y="6502875"/>
            <a:ext cx="375082" cy="382510"/>
          </a:xfrm>
          <a:prstGeom prst="rect">
            <a:avLst/>
          </a:prstGeom>
          <a:ln w="12700">
            <a:miter lim="400000"/>
          </a:ln>
        </p:spPr>
      </p:pic>
      <p:sp>
        <p:nvSpPr>
          <p:cNvPr id="148" name="TextBox 9"/>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52" name="Title 1"/>
          <p:cNvGrpSpPr/>
          <p:nvPr/>
        </p:nvGrpSpPr>
        <p:grpSpPr>
          <a:xfrm>
            <a:off x="0" y="0"/>
            <a:ext cx="9144000" cy="304800"/>
            <a:chOff x="0" y="33020"/>
            <a:chExt cx="9144000" cy="304800"/>
          </a:xfrm>
        </p:grpSpPr>
        <p:sp>
          <p:nvSpPr>
            <p:cNvPr id="150" name="Rectangle"/>
            <p:cNvSpPr/>
            <p:nvPr/>
          </p:nvSpPr>
          <p:spPr>
            <a:xfrm>
              <a:off x="0" y="33020"/>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151" name="Literature Survey"/>
            <p:cNvSpPr/>
            <p:nvPr/>
          </p:nvSpPr>
          <p:spPr>
            <a:xfrm>
              <a:off x="45719" y="185420"/>
              <a:ext cx="905256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Book Antiqua"/>
                  <a:ea typeface="Book Antiqua"/>
                  <a:cs typeface="Book Antiqua"/>
                  <a:sym typeface="Book Antiqua"/>
                </a:defRPr>
              </a:lvl1pPr>
            </a:lstStyle>
            <a:p>
              <a:pPr/>
              <a:r>
                <a:t>Literature Survey</a:t>
              </a:r>
            </a:p>
          </p:txBody>
        </p:sp>
      </p:grpSp>
      <p:grpSp>
        <p:nvGrpSpPr>
          <p:cNvPr id="155" name="Footer Placeholder 6"/>
          <p:cNvGrpSpPr/>
          <p:nvPr/>
        </p:nvGrpSpPr>
        <p:grpSpPr>
          <a:xfrm>
            <a:off x="0" y="6492875"/>
            <a:ext cx="9144000" cy="365125"/>
            <a:chOff x="0" y="0"/>
            <a:chExt cx="9144000" cy="365125"/>
          </a:xfrm>
        </p:grpSpPr>
        <p:sp>
          <p:nvSpPr>
            <p:cNvPr id="153"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154"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a:t>
              </a:r>
            </a:p>
          </p:txBody>
        </p:sp>
      </p:grpSp>
      <p:pic>
        <p:nvPicPr>
          <p:cNvPr id="156" name="Picture 1" descr="Picture 1"/>
          <p:cNvPicPr>
            <a:picLocks noChangeAspect="1"/>
          </p:cNvPicPr>
          <p:nvPr/>
        </p:nvPicPr>
        <p:blipFill>
          <a:blip r:embed="rId2">
            <a:extLst/>
          </a:blip>
          <a:stretch>
            <a:fillRect/>
          </a:stretch>
        </p:blipFill>
        <p:spPr>
          <a:xfrm>
            <a:off x="76200" y="6475491"/>
            <a:ext cx="375082" cy="382510"/>
          </a:xfrm>
          <a:prstGeom prst="rect">
            <a:avLst/>
          </a:prstGeom>
          <a:ln w="12700">
            <a:miter lim="400000"/>
          </a:ln>
        </p:spPr>
      </p:pic>
      <p:sp>
        <p:nvSpPr>
          <p:cNvPr id="157" name="Title 1"/>
          <p:cNvSpPr txBox="1"/>
          <p:nvPr>
            <p:ph type="title"/>
          </p:nvPr>
        </p:nvSpPr>
        <p:spPr>
          <a:xfrm>
            <a:off x="0" y="357625"/>
            <a:ext cx="9144000" cy="639764"/>
          </a:xfrm>
          <a:prstGeom prst="rect">
            <a:avLst/>
          </a:prstGeom>
        </p:spPr>
        <p:txBody>
          <a:bodyPr/>
          <a:lstStyle>
            <a:lvl1pPr>
              <a:defRPr b="1" sz="3600">
                <a:solidFill>
                  <a:schemeClr val="accent3"/>
                </a:solidFill>
                <a:latin typeface="Times New Roman"/>
                <a:ea typeface="Times New Roman"/>
                <a:cs typeface="Times New Roman"/>
                <a:sym typeface="Times New Roman"/>
              </a:defRPr>
            </a:lvl1pPr>
          </a:lstStyle>
          <a:p>
            <a:pPr/>
            <a:r>
              <a:t>LITERATURE SURVEY</a:t>
            </a:r>
          </a:p>
        </p:txBody>
      </p:sp>
      <p:graphicFrame>
        <p:nvGraphicFramePr>
          <p:cNvPr id="158" name="Table 1"/>
          <p:cNvGraphicFramePr/>
          <p:nvPr/>
        </p:nvGraphicFramePr>
        <p:xfrm>
          <a:off x="428595" y="1071546"/>
          <a:ext cx="8429688" cy="4685096"/>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543004"/>
                <a:gridCol w="1584176"/>
                <a:gridCol w="1224136"/>
                <a:gridCol w="1656184"/>
                <a:gridCol w="1728192"/>
                <a:gridCol w="1693994"/>
              </a:tblGrid>
              <a:tr h="321175">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Ref. No</a:t>
                      </a:r>
                    </a:p>
                  </a:txBody>
                  <a:tcPr marL="45720" marR="45720" marT="45720" marB="45720" anchor="t" anchorCtr="0" horzOverflow="overflow"/>
                </a:tc>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Title</a:t>
                      </a:r>
                    </a:p>
                  </a:txBody>
                  <a:tcPr marL="45720" marR="45720" marT="45720" marB="45720" anchor="t" anchorCtr="0" horzOverflow="overflow"/>
                </a:tc>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Author, Year</a:t>
                      </a:r>
                    </a:p>
                  </a:txBody>
                  <a:tcPr marL="45720" marR="45720" marT="45720" marB="45720" anchor="t" anchorCtr="0" horzOverflow="overflow"/>
                </a:tc>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Methodology</a:t>
                      </a:r>
                    </a:p>
                  </a:txBody>
                  <a:tcPr marL="45720" marR="45720" marT="45720" marB="45720" anchor="t" anchorCtr="0" horzOverflow="overflow"/>
                </a:tc>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Key findings</a:t>
                      </a:r>
                    </a:p>
                  </a:txBody>
                  <a:tcPr marL="45720" marR="45720" marT="45720" marB="45720" anchor="t" anchorCtr="0" horzOverflow="overflow"/>
                </a:tc>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Relevance to Projects</a:t>
                      </a:r>
                    </a:p>
                  </a:txBody>
                  <a:tcPr marL="45720" marR="45720" marT="45720" marB="45720" anchor="t" anchorCtr="0" horzOverflow="overflow"/>
                </a:tc>
              </a:tr>
              <a:tr h="1119214">
                <a:tc>
                  <a:txBody>
                    <a:bodyPr/>
                    <a:lstStyle/>
                    <a:p>
                      <a:pPr algn="ctr">
                        <a:defRPr sz="1800"/>
                      </a:pPr>
                      <a:r>
                        <a:rPr sz="1400">
                          <a:latin typeface="Times New Roman"/>
                          <a:ea typeface="Times New Roman"/>
                          <a:cs typeface="Times New Roman"/>
                          <a:sym typeface="Times New Roman"/>
                        </a:rPr>
                        <a:t>01.</a:t>
                      </a:r>
                    </a:p>
                  </a:txBody>
                  <a:tcPr marL="45720" marR="45720" marT="45720" marB="45720" anchor="ctr" anchorCtr="0" horzOverflow="overflow"/>
                </a:tc>
                <a:tc>
                  <a:txBody>
                    <a:bodyPr/>
                    <a:lstStyle/>
                    <a:p>
                      <a:pPr algn="ctr">
                        <a:defRPr sz="1400"/>
                      </a:pPr>
                      <a:r>
                        <a:t>Machine Learning for Autism Detection</a:t>
                      </a:r>
                    </a:p>
                  </a:txBody>
                  <a:tcPr marL="45720" marR="45720" marT="45720" marB="45720" anchor="ctr" anchorCtr="0" horzOverflow="overflow"/>
                </a:tc>
                <a:tc>
                  <a:txBody>
                    <a:bodyPr/>
                    <a:lstStyle/>
                    <a:p>
                      <a:pPr algn="ctr">
                        <a:defRPr sz="1400"/>
                      </a:pPr>
                      <a:r>
                        <a:t>Thabtah, 2019</a:t>
                      </a:r>
                    </a:p>
                  </a:txBody>
                  <a:tcPr marL="45720" marR="45720" marT="45720" marB="45720" anchor="ctr" anchorCtr="0" horzOverflow="overflow"/>
                </a:tc>
                <a:tc>
                  <a:txBody>
                    <a:bodyPr/>
                    <a:lstStyle/>
                    <a:p>
                      <a:pPr algn="ctr">
                        <a:defRPr sz="1400"/>
                      </a:pPr>
                      <a:r>
                        <a:t>Applied classification algorithms on ASD screening datasets.</a:t>
                      </a:r>
                    </a:p>
                  </a:txBody>
                  <a:tcPr marL="45720" marR="45720" marT="45720" marB="45720" anchor="ctr" anchorCtr="0" horzOverflow="overflow"/>
                </a:tc>
                <a:tc>
                  <a:txBody>
                    <a:bodyPr/>
                    <a:lstStyle/>
                    <a:p>
                      <a:pPr algn="ctr">
                        <a:defRPr sz="1400"/>
                      </a:pPr>
                      <a:r>
                        <a:t>ML models can accurately classify ASD based on behavioral features.</a:t>
                      </a:r>
                    </a:p>
                  </a:txBody>
                  <a:tcPr marL="45720" marR="45720" marT="45720" marB="45720" anchor="ctr" anchorCtr="0" horzOverflow="overflow"/>
                </a:tc>
                <a:tc>
                  <a:txBody>
                    <a:bodyPr/>
                    <a:lstStyle/>
                    <a:p>
                      <a:pPr algn="ctr">
                        <a:defRPr sz="1400"/>
                      </a:pPr>
                      <a:r>
                        <a:t>Forms base for questionnaire-based prediction module</a:t>
                      </a:r>
                      <a:r>
                        <a:rPr>
                          <a:latin typeface="Times New Roman"/>
                          <a:ea typeface="Times New Roman"/>
                          <a:cs typeface="Times New Roman"/>
                          <a:sym typeface="Times New Roman"/>
                        </a:rPr>
                        <a:t>.</a:t>
                      </a:r>
                    </a:p>
                  </a:txBody>
                  <a:tcPr marL="45720" marR="45720" marT="45720" marB="45720" anchor="ctr" anchorCtr="0" horzOverflow="overflow"/>
                </a:tc>
              </a:tr>
              <a:tr h="1220465">
                <a:tc>
                  <a:txBody>
                    <a:bodyPr/>
                    <a:lstStyle/>
                    <a:p>
                      <a:pPr algn="ctr">
                        <a:defRPr sz="1800"/>
                      </a:pPr>
                      <a:r>
                        <a:rPr sz="1400">
                          <a:latin typeface="Times New Roman"/>
                          <a:ea typeface="Times New Roman"/>
                          <a:cs typeface="Times New Roman"/>
                          <a:sym typeface="Times New Roman"/>
                        </a:rPr>
                        <a:t>02.</a:t>
                      </a:r>
                    </a:p>
                  </a:txBody>
                  <a:tcPr marL="45720" marR="45720" marT="45720" marB="45720" anchor="ctr" anchorCtr="0" horzOverflow="overflow"/>
                </a:tc>
                <a:tc>
                  <a:txBody>
                    <a:bodyPr/>
                    <a:lstStyle/>
                    <a:p>
                      <a:pPr algn="ctr">
                        <a:defRPr sz="1400"/>
                      </a:pPr>
                      <a:r>
                        <a:t>Autism Screening Using Data Mining Techniques</a:t>
                      </a:r>
                    </a:p>
                  </a:txBody>
                  <a:tcPr marL="45720" marR="45720" marT="45720" marB="45720" anchor="ctr" anchorCtr="0" horzOverflow="overflow"/>
                </a:tc>
                <a:tc>
                  <a:txBody>
                    <a:bodyPr/>
                    <a:lstStyle/>
                    <a:p>
                      <a:pPr algn="ctr">
                        <a:defRPr sz="1400"/>
                      </a:pPr>
                      <a:r>
                        <a:t>Duda et al., 2016</a:t>
                      </a:r>
                    </a:p>
                  </a:txBody>
                  <a:tcPr marL="45720" marR="45720" marT="45720" marB="45720" anchor="ctr" anchorCtr="0" horzOverflow="overflow"/>
                </a:tc>
                <a:tc>
                  <a:txBody>
                    <a:bodyPr/>
                    <a:lstStyle/>
                    <a:p>
                      <a:pPr algn="ctr">
                        <a:defRPr sz="1400"/>
                      </a:pPr>
                      <a:r>
                        <a:t>Used feature selection and classification models for ASD detection.</a:t>
                      </a:r>
                    </a:p>
                  </a:txBody>
                  <a:tcPr marL="45720" marR="45720" marT="45720" marB="45720" anchor="ctr" anchorCtr="0" horzOverflow="overflow"/>
                </a:tc>
                <a:tc>
                  <a:txBody>
                    <a:bodyPr/>
                    <a:lstStyle/>
                    <a:p>
                      <a:pPr algn="ctr">
                        <a:defRPr sz="1400"/>
                      </a:pPr>
                      <a:r>
                        <a:t>Reduced number of features while maintaining high accuracy.</a:t>
                      </a:r>
                    </a:p>
                  </a:txBody>
                  <a:tcPr marL="45720" marR="45720" marT="45720" marB="45720" anchor="ctr" anchorCtr="0" horzOverflow="overflow"/>
                </a:tc>
                <a:tc>
                  <a:txBody>
                    <a:bodyPr/>
                    <a:lstStyle/>
                    <a:p>
                      <a:pPr algn="ctr">
                        <a:defRPr sz="1400"/>
                      </a:pPr>
                      <a:r>
                        <a:t>Helps in optimizing input features for faster prediction.</a:t>
                      </a:r>
                    </a:p>
                  </a:txBody>
                  <a:tcPr marL="45720" marR="45720" marT="45720" marB="45720" anchor="ctr" anchorCtr="0" horzOverflow="overflow"/>
                </a:tc>
              </a:tr>
              <a:tr h="995642">
                <a:tc>
                  <a:txBody>
                    <a:bodyPr/>
                    <a:lstStyle/>
                    <a:p>
                      <a:pPr algn="ctr">
                        <a:defRPr sz="1800"/>
                      </a:pPr>
                      <a:r>
                        <a:rPr sz="1400">
                          <a:latin typeface="Times New Roman"/>
                          <a:ea typeface="Times New Roman"/>
                          <a:cs typeface="Times New Roman"/>
                          <a:sym typeface="Times New Roman"/>
                        </a:rPr>
                        <a:t>03.</a:t>
                      </a:r>
                    </a:p>
                  </a:txBody>
                  <a:tcPr marL="45720" marR="45720" marT="45720" marB="45720" anchor="ctr" anchorCtr="0" horzOverflow="overflow"/>
                </a:tc>
                <a:tc>
                  <a:txBody>
                    <a:bodyPr/>
                    <a:lstStyle/>
                    <a:p>
                      <a:pPr algn="ctr">
                        <a:defRPr sz="1400"/>
                      </a:pPr>
                      <a:r>
                        <a:t>Facial Expression Recognition in Autism</a:t>
                      </a:r>
                    </a:p>
                  </a:txBody>
                  <a:tcPr marL="45720" marR="45720" marT="45720" marB="45720" anchor="ctr" anchorCtr="0" horzOverflow="overflow"/>
                </a:tc>
                <a:tc>
                  <a:txBody>
                    <a:bodyPr/>
                    <a:lstStyle/>
                    <a:p>
                      <a:pPr algn="ctr">
                        <a:defRPr sz="1400"/>
                      </a:pPr>
                      <a:r>
                        <a:t>Hashemi et al., 2018</a:t>
                      </a:r>
                    </a:p>
                  </a:txBody>
                  <a:tcPr marL="45720" marR="45720" marT="45720" marB="45720" anchor="ctr" anchorCtr="0" horzOverflow="overflow"/>
                </a:tc>
                <a:tc>
                  <a:txBody>
                    <a:bodyPr/>
                    <a:lstStyle/>
                    <a:p>
                      <a:pPr algn="ctr">
                        <a:defRPr sz="1400"/>
                      </a:pPr>
                      <a:r>
                        <a:t>Used CNN models to analyze facial expressions.</a:t>
                      </a:r>
                    </a:p>
                  </a:txBody>
                  <a:tcPr marL="45720" marR="45720" marT="45720" marB="45720" anchor="ctr" anchorCtr="0" horzOverflow="overflow"/>
                </a:tc>
                <a:tc>
                  <a:txBody>
                    <a:bodyPr/>
                    <a:lstStyle/>
                    <a:p>
                      <a:pPr algn="ctr">
                        <a:defRPr sz="1400"/>
                      </a:pPr>
                      <a:r>
                        <a:t>ASD individuals show distinct facial expression patterns.</a:t>
                      </a:r>
                    </a:p>
                  </a:txBody>
                  <a:tcPr marL="45720" marR="45720" marT="45720" marB="45720" anchor="ctr" anchorCtr="0" horzOverflow="overflow"/>
                </a:tc>
                <a:tc>
                  <a:txBody>
                    <a:bodyPr/>
                    <a:lstStyle/>
                    <a:p>
                      <a:pPr algn="ctr">
                        <a:defRPr sz="1400"/>
                      </a:pPr>
                      <a:r>
                        <a:t>Supports facial analysis module in system.</a:t>
                      </a:r>
                    </a:p>
                  </a:txBody>
                  <a:tcPr marL="45720" marR="45720" marT="45720" marB="45720" anchor="ctr" anchorCtr="0" horzOverflow="overflow"/>
                </a:tc>
              </a:tr>
              <a:tr h="1028600">
                <a:tc>
                  <a:txBody>
                    <a:bodyPr/>
                    <a:lstStyle/>
                    <a:p>
                      <a:pPr algn="ctr">
                        <a:defRPr sz="1800"/>
                      </a:pPr>
                      <a:r>
                        <a:rPr sz="1400">
                          <a:latin typeface="Times New Roman"/>
                          <a:ea typeface="Times New Roman"/>
                          <a:cs typeface="Times New Roman"/>
                          <a:sym typeface="Times New Roman"/>
                        </a:rPr>
                        <a:t>04.</a:t>
                      </a:r>
                    </a:p>
                  </a:txBody>
                  <a:tcPr marL="45720" marR="45720" marT="45720" marB="45720" anchor="ctr" anchorCtr="0" horzOverflow="overflow"/>
                </a:tc>
                <a:tc>
                  <a:txBody>
                    <a:bodyPr/>
                    <a:lstStyle/>
                    <a:p>
                      <a:pPr algn="ctr">
                        <a:defRPr sz="1400"/>
                      </a:pPr>
                      <a:r>
                        <a:t>Eye Gaze Tracking in Autism Studies</a:t>
                      </a:r>
                    </a:p>
                  </a:txBody>
                  <a:tcPr marL="45720" marR="45720" marT="45720" marB="45720" anchor="ctr" anchorCtr="0" horzOverflow="overflow"/>
                </a:tc>
                <a:tc>
                  <a:txBody>
                    <a:bodyPr/>
                    <a:lstStyle/>
                    <a:p>
                      <a:pPr algn="ctr">
                        <a:defRPr sz="1400"/>
                      </a:pPr>
                      <a:r>
                        <a:t>Jones &amp; Klin, 2013</a:t>
                      </a:r>
                    </a:p>
                  </a:txBody>
                  <a:tcPr marL="45720" marR="45720" marT="45720" marB="45720" anchor="ctr" anchorCtr="0" horzOverflow="overflow"/>
                </a:tc>
                <a:tc>
                  <a:txBody>
                    <a:bodyPr/>
                    <a:lstStyle/>
                    <a:p>
                      <a:pPr algn="ctr">
                        <a:defRPr sz="1400"/>
                      </a:pPr>
                      <a:r>
                        <a:t>Eye-tracking experiments on children with ASD.</a:t>
                      </a:r>
                    </a:p>
                  </a:txBody>
                  <a:tcPr marL="45720" marR="45720" marT="45720" marB="45720" anchor="ctr" anchorCtr="0" horzOverflow="overflow"/>
                </a:tc>
                <a:tc>
                  <a:txBody>
                    <a:bodyPr/>
                    <a:lstStyle/>
                    <a:p>
                      <a:pPr algn="ctr">
                        <a:defRPr sz="1400"/>
                      </a:pPr>
                      <a:r>
                        <a:t>Reduced eye contact is a strong ASD indicator.</a:t>
                      </a:r>
                    </a:p>
                  </a:txBody>
                  <a:tcPr marL="45720" marR="45720" marT="45720" marB="45720" anchor="ctr" anchorCtr="0" horzOverflow="overflow"/>
                </a:tc>
                <a:tc>
                  <a:txBody>
                    <a:bodyPr/>
                    <a:lstStyle/>
                    <a:p>
                      <a:pPr algn="ctr">
                        <a:defRPr sz="1400"/>
                      </a:pPr>
                      <a:r>
                        <a:t>Basis for gaze tracking component.</a:t>
                      </a:r>
                    </a:p>
                  </a:txBody>
                  <a:tcPr marL="45720" marR="45720" marT="45720" marB="45720" anchor="ctr" anchorCtr="0" horzOverflow="overflow"/>
                </a:tc>
              </a:tr>
            </a:tbl>
          </a:graphicData>
        </a:graphic>
      </p:graphicFrame>
      <p:sp>
        <p:nvSpPr>
          <p:cNvPr id="159" name="TextBox 2"/>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Title 1"/>
          <p:cNvSpPr txBox="1"/>
          <p:nvPr>
            <p:ph type="ctrTitle"/>
          </p:nvPr>
        </p:nvSpPr>
        <p:spPr>
          <a:xfrm>
            <a:off x="0" y="404665"/>
            <a:ext cx="9144000" cy="576064"/>
          </a:xfrm>
          <a:prstGeom prst="rect">
            <a:avLst/>
          </a:prstGeom>
        </p:spPr>
        <p:txBody>
          <a:bodyPr/>
          <a:lstStyle>
            <a:lvl1pPr defTabSz="877823">
              <a:defRPr b="1" sz="3455">
                <a:solidFill>
                  <a:schemeClr val="accent3"/>
                </a:solidFill>
                <a:latin typeface="Times New Roman"/>
                <a:ea typeface="Times New Roman"/>
                <a:cs typeface="Times New Roman"/>
                <a:sym typeface="Times New Roman"/>
              </a:defRPr>
            </a:lvl1pPr>
          </a:lstStyle>
          <a:p>
            <a:pPr/>
            <a:r>
              <a:t>LITERATURE SURVEY</a:t>
            </a:r>
          </a:p>
        </p:txBody>
      </p:sp>
      <p:sp>
        <p:nvSpPr>
          <p:cNvPr id="162" name="Subtitle 2"/>
          <p:cNvSpPr txBox="1"/>
          <p:nvPr>
            <p:ph type="subTitle" sz="quarter" idx="1"/>
          </p:nvPr>
        </p:nvSpPr>
        <p:spPr>
          <a:xfrm>
            <a:off x="1371600" y="6597352"/>
            <a:ext cx="6400800" cy="365127"/>
          </a:xfrm>
          <a:prstGeom prst="rect">
            <a:avLst/>
          </a:prstGeom>
        </p:spPr>
        <p:txBody>
          <a:bodyPr/>
          <a:lstStyle/>
          <a:p>
            <a:pPr>
              <a:lnSpc>
                <a:spcPct val="80000"/>
              </a:lnSpc>
              <a:spcBef>
                <a:spcPts val="400"/>
              </a:spcBef>
              <a:defRPr sz="2000"/>
            </a:pPr>
          </a:p>
        </p:txBody>
      </p:sp>
      <p:grpSp>
        <p:nvGrpSpPr>
          <p:cNvPr id="165" name="Title 1"/>
          <p:cNvGrpSpPr/>
          <p:nvPr/>
        </p:nvGrpSpPr>
        <p:grpSpPr>
          <a:xfrm>
            <a:off x="0" y="0"/>
            <a:ext cx="9144000" cy="304800"/>
            <a:chOff x="0" y="33020"/>
            <a:chExt cx="9144000" cy="304800"/>
          </a:xfrm>
        </p:grpSpPr>
        <p:sp>
          <p:nvSpPr>
            <p:cNvPr id="163" name="Rectangle"/>
            <p:cNvSpPr/>
            <p:nvPr/>
          </p:nvSpPr>
          <p:spPr>
            <a:xfrm>
              <a:off x="0" y="33020"/>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164" name="Literature Survey"/>
            <p:cNvSpPr/>
            <p:nvPr/>
          </p:nvSpPr>
          <p:spPr>
            <a:xfrm>
              <a:off x="45719" y="185420"/>
              <a:ext cx="905256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Book Antiqua"/>
                  <a:ea typeface="Book Antiqua"/>
                  <a:cs typeface="Book Antiqua"/>
                  <a:sym typeface="Book Antiqua"/>
                </a:defRPr>
              </a:lvl1pPr>
            </a:lstStyle>
            <a:p>
              <a:pPr/>
              <a:r>
                <a:t>Literature Survey</a:t>
              </a:r>
            </a:p>
          </p:txBody>
        </p:sp>
      </p:grpSp>
      <p:grpSp>
        <p:nvGrpSpPr>
          <p:cNvPr id="168" name="Footer Placeholder 6"/>
          <p:cNvGrpSpPr/>
          <p:nvPr/>
        </p:nvGrpSpPr>
        <p:grpSpPr>
          <a:xfrm>
            <a:off x="0" y="6492875"/>
            <a:ext cx="9144000" cy="365125"/>
            <a:chOff x="0" y="0"/>
            <a:chExt cx="9144000" cy="365125"/>
          </a:xfrm>
        </p:grpSpPr>
        <p:sp>
          <p:nvSpPr>
            <p:cNvPr id="166"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167"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a:t>
              </a:r>
            </a:p>
          </p:txBody>
        </p:sp>
      </p:grpSp>
      <p:graphicFrame>
        <p:nvGraphicFramePr>
          <p:cNvPr id="169" name="Table 5"/>
          <p:cNvGraphicFramePr/>
          <p:nvPr/>
        </p:nvGraphicFramePr>
        <p:xfrm>
          <a:off x="179511" y="1412775"/>
          <a:ext cx="8640962" cy="4072866"/>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504056"/>
                <a:gridCol w="1512168"/>
                <a:gridCol w="1440160"/>
                <a:gridCol w="1728192"/>
                <a:gridCol w="1800200"/>
                <a:gridCol w="1656184"/>
              </a:tblGrid>
              <a:tr h="576064">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Ref No</a:t>
                      </a:r>
                    </a:p>
                  </a:txBody>
                  <a:tcPr marL="45720" marR="45720" marT="45720" marB="45720" anchor="t" anchorCtr="0" horzOverflow="overflow"/>
                </a:tc>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Title</a:t>
                      </a:r>
                    </a:p>
                  </a:txBody>
                  <a:tcPr marL="45720" marR="45720" marT="45720" marB="45720" anchor="t" anchorCtr="0" horzOverflow="overflow"/>
                </a:tc>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Author, Year</a:t>
                      </a:r>
                    </a:p>
                  </a:txBody>
                  <a:tcPr marL="45720" marR="45720" marT="45720" marB="45720" anchor="t" anchorCtr="0" horzOverflow="overflow"/>
                </a:tc>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Methodology</a:t>
                      </a:r>
                    </a:p>
                  </a:txBody>
                  <a:tcPr marL="45720" marR="45720" marT="45720" marB="45720" anchor="t" anchorCtr="0" horzOverflow="overflow"/>
                </a:tc>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Key Findings</a:t>
                      </a:r>
                    </a:p>
                  </a:txBody>
                  <a:tcPr marL="45720" marR="45720" marT="45720" marB="45720" anchor="t" anchorCtr="0" horzOverflow="overflow"/>
                </a:tc>
                <a:tc>
                  <a:txBody>
                    <a:bodyPr/>
                    <a:lstStyle/>
                    <a:p>
                      <a:pPr algn="ctr">
                        <a:defRPr b="0" sz="1800">
                          <a:solidFill>
                            <a:srgbClr val="000000"/>
                          </a:solidFill>
                        </a:defRPr>
                      </a:pPr>
                      <a:r>
                        <a:rPr b="1" sz="1400">
                          <a:solidFill>
                            <a:srgbClr val="FFFFFF"/>
                          </a:solidFill>
                          <a:latin typeface="Times New Roman"/>
                          <a:ea typeface="Times New Roman"/>
                          <a:cs typeface="Times New Roman"/>
                          <a:sym typeface="Times New Roman"/>
                        </a:rPr>
                        <a:t>Relevance to project</a:t>
                      </a:r>
                    </a:p>
                  </a:txBody>
                  <a:tcPr marL="45720" marR="45720" marT="45720" marB="45720" anchor="t" anchorCtr="0" horzOverflow="overflow"/>
                </a:tc>
              </a:tr>
              <a:tr h="874200">
                <a:tc>
                  <a:txBody>
                    <a:bodyPr/>
                    <a:lstStyle/>
                    <a:p>
                      <a:pPr algn="ctr">
                        <a:defRPr sz="1800"/>
                      </a:pPr>
                      <a:r>
                        <a:rPr sz="1400">
                          <a:latin typeface="Times New Roman"/>
                          <a:ea typeface="Times New Roman"/>
                          <a:cs typeface="Times New Roman"/>
                          <a:sym typeface="Times New Roman"/>
                        </a:rPr>
                        <a:t>05.</a:t>
                      </a:r>
                    </a:p>
                  </a:txBody>
                  <a:tcPr marL="45720" marR="45720" marT="45720" marB="45720" anchor="t" anchorCtr="0" horzOverflow="overflow"/>
                </a:tc>
                <a:tc>
                  <a:txBody>
                    <a:bodyPr/>
                    <a:lstStyle/>
                    <a:p>
                      <a:pPr algn="ctr">
                        <a:defRPr sz="1400"/>
                      </a:pPr>
                      <a:r>
                        <a:t>Speech Analysis for Autism Detection</a:t>
                      </a:r>
                    </a:p>
                  </a:txBody>
                  <a:tcPr marL="45720" marR="45720" marT="45720" marB="45720" anchor="t" anchorCtr="0" horzOverflow="overflow"/>
                </a:tc>
                <a:tc>
                  <a:txBody>
                    <a:bodyPr/>
                    <a:lstStyle/>
                    <a:p>
                      <a:pPr algn="ctr">
                        <a:defRPr sz="1400"/>
                      </a:pPr>
                      <a:r>
                        <a:t>Bone et al., 2014</a:t>
                      </a:r>
                    </a:p>
                  </a:txBody>
                  <a:tcPr marL="45720" marR="45720" marT="45720" marB="45720" anchor="t" anchorCtr="0" horzOverflow="overflow"/>
                </a:tc>
                <a:tc>
                  <a:txBody>
                    <a:bodyPr/>
                    <a:lstStyle/>
                    <a:p>
                      <a:pPr algn="ctr">
                        <a:defRPr sz="1400"/>
                      </a:pPr>
                      <a:r>
                        <a:t>Extracted acoustic features from speech signals.</a:t>
                      </a:r>
                    </a:p>
                  </a:txBody>
                  <a:tcPr marL="45720" marR="45720" marT="45720" marB="45720" anchor="t" anchorCtr="0" horzOverflow="overflow"/>
                </a:tc>
                <a:tc>
                  <a:txBody>
                    <a:bodyPr/>
                    <a:lstStyle/>
                    <a:p>
                      <a:pPr algn="ctr">
                        <a:defRPr sz="1400"/>
                      </a:pPr>
                      <a:r>
                        <a:t>ASD speech shows differences in pitch and rhythm.</a:t>
                      </a:r>
                    </a:p>
                  </a:txBody>
                  <a:tcPr marL="45720" marR="45720" marT="45720" marB="45720" anchor="t" anchorCtr="0" horzOverflow="overflow"/>
                </a:tc>
                <a:tc>
                  <a:txBody>
                    <a:bodyPr/>
                    <a:lstStyle/>
                    <a:p>
                      <a:pPr algn="ctr">
                        <a:defRPr sz="1400"/>
                      </a:pPr>
                      <a:r>
                        <a:t>Used for speech-based prediction module.</a:t>
                      </a:r>
                    </a:p>
                  </a:txBody>
                  <a:tcPr marL="45720" marR="45720" marT="45720" marB="45720" anchor="t" anchorCtr="0" horzOverflow="overflow"/>
                </a:tc>
              </a:tr>
              <a:tr h="874200">
                <a:tc>
                  <a:txBody>
                    <a:bodyPr/>
                    <a:lstStyle/>
                    <a:p>
                      <a:pPr algn="ctr">
                        <a:defRPr sz="1800"/>
                      </a:pPr>
                      <a:r>
                        <a:rPr sz="1400">
                          <a:latin typeface="Times New Roman"/>
                          <a:ea typeface="Times New Roman"/>
                          <a:cs typeface="Times New Roman"/>
                          <a:sym typeface="Times New Roman"/>
                        </a:rPr>
                        <a:t>06.</a:t>
                      </a:r>
                    </a:p>
                  </a:txBody>
                  <a:tcPr marL="45720" marR="45720" marT="45720" marB="45720" anchor="t" anchorCtr="0" horzOverflow="overflow"/>
                </a:tc>
                <a:tc>
                  <a:txBody>
                    <a:bodyPr/>
                    <a:lstStyle/>
                    <a:p>
                      <a:pPr algn="ctr">
                        <a:defRPr sz="1400"/>
                      </a:pPr>
                      <a:r>
                        <a:t>Multimodal Machine Learning for Healthcare</a:t>
                      </a:r>
                    </a:p>
                  </a:txBody>
                  <a:tcPr marL="45720" marR="45720" marT="45720" marB="45720" anchor="t" anchorCtr="0" horzOverflow="overflow"/>
                </a:tc>
                <a:tc>
                  <a:txBody>
                    <a:bodyPr/>
                    <a:lstStyle/>
                    <a:p>
                      <a:pPr algn="ctr">
                        <a:defRPr sz="1400"/>
                      </a:pPr>
                      <a:r>
                        <a:t>Baltrusaitis et al., 2019</a:t>
                      </a:r>
                    </a:p>
                  </a:txBody>
                  <a:tcPr marL="45720" marR="45720" marT="45720" marB="45720" anchor="t" anchorCtr="0" horzOverflow="overflow"/>
                </a:tc>
                <a:tc>
                  <a:txBody>
                    <a:bodyPr/>
                    <a:lstStyle/>
                    <a:p>
                      <a:pPr algn="ctr">
                        <a:defRPr sz="1400"/>
                      </a:pPr>
                      <a:r>
                        <a:t>Combined multiple data modalities using fusion models.</a:t>
                      </a:r>
                    </a:p>
                  </a:txBody>
                  <a:tcPr marL="45720" marR="45720" marT="45720" marB="45720" anchor="t" anchorCtr="0" horzOverflow="overflow"/>
                </a:tc>
                <a:tc>
                  <a:txBody>
                    <a:bodyPr/>
                    <a:lstStyle/>
                    <a:p>
                      <a:pPr algn="ctr">
                        <a:defRPr sz="1400"/>
                      </a:pPr>
                      <a:r>
                        <a:t>Multimodal systems improve prediction accuracy.</a:t>
                      </a:r>
                    </a:p>
                  </a:txBody>
                  <a:tcPr marL="45720" marR="45720" marT="45720" marB="45720" anchor="t" anchorCtr="0" horzOverflow="overflow"/>
                </a:tc>
                <a:tc>
                  <a:txBody>
                    <a:bodyPr/>
                    <a:lstStyle/>
                    <a:p>
                      <a:pPr algn="ctr">
                        <a:defRPr sz="1400"/>
                      </a:pPr>
                      <a:r>
                        <a:t>Core idea for combining multiple ASD indicators.</a:t>
                      </a:r>
                    </a:p>
                  </a:txBody>
                  <a:tcPr marL="45720" marR="45720" marT="45720" marB="45720" anchor="t" anchorCtr="0" horzOverflow="overflow"/>
                </a:tc>
              </a:tr>
              <a:tr h="874200">
                <a:tc>
                  <a:txBody>
                    <a:bodyPr/>
                    <a:lstStyle/>
                    <a:p>
                      <a:pPr algn="ctr">
                        <a:defRPr sz="1800"/>
                      </a:pPr>
                      <a:r>
                        <a:rPr sz="1400">
                          <a:latin typeface="Times New Roman"/>
                          <a:ea typeface="Times New Roman"/>
                          <a:cs typeface="Times New Roman"/>
                          <a:sym typeface="Times New Roman"/>
                        </a:rPr>
                        <a:t>07.</a:t>
                      </a:r>
                    </a:p>
                  </a:txBody>
                  <a:tcPr marL="45720" marR="45720" marT="45720" marB="45720" anchor="t" anchorCtr="0" horzOverflow="overflow"/>
                </a:tc>
                <a:tc>
                  <a:txBody>
                    <a:bodyPr/>
                    <a:lstStyle/>
                    <a:p>
                      <a:pPr algn="ctr">
                        <a:defRPr sz="1400"/>
                      </a:pPr>
                      <a:r>
                        <a:t>Explainable AI in Healthcare</a:t>
                      </a:r>
                    </a:p>
                  </a:txBody>
                  <a:tcPr marL="45720" marR="45720" marT="45720" marB="45720" anchor="t" anchorCtr="0" horzOverflow="overflow"/>
                </a:tc>
                <a:tc>
                  <a:txBody>
                    <a:bodyPr/>
                    <a:lstStyle/>
                    <a:p>
                      <a:pPr algn="ctr">
                        <a:defRPr sz="1400"/>
                      </a:pPr>
                      <a:r>
                        <a:t>Ribeiro et al., 2016</a:t>
                      </a:r>
                    </a:p>
                  </a:txBody>
                  <a:tcPr marL="45720" marR="45720" marT="45720" marB="45720" anchor="t" anchorCtr="0" horzOverflow="overflow"/>
                </a:tc>
                <a:tc>
                  <a:txBody>
                    <a:bodyPr/>
                    <a:lstStyle/>
                    <a:p>
                      <a:pPr algn="ctr">
                        <a:defRPr sz="1400"/>
                      </a:pPr>
                      <a:r>
                        <a:t>Introduced LIME for model interpretability.</a:t>
                      </a:r>
                    </a:p>
                  </a:txBody>
                  <a:tcPr marL="45720" marR="45720" marT="45720" marB="45720" anchor="t" anchorCtr="0" horzOverflow="overflow"/>
                </a:tc>
                <a:tc>
                  <a:txBody>
                    <a:bodyPr/>
                    <a:lstStyle/>
                    <a:p>
                      <a:pPr algn="ctr">
                        <a:defRPr sz="1400"/>
                      </a:pPr>
                      <a:r>
                        <a:t>Improves transparency and trust in AI systems.</a:t>
                      </a:r>
                    </a:p>
                  </a:txBody>
                  <a:tcPr marL="45720" marR="45720" marT="45720" marB="45720" anchor="t" anchorCtr="0" horzOverflow="overflow"/>
                </a:tc>
                <a:tc>
                  <a:txBody>
                    <a:bodyPr/>
                    <a:lstStyle/>
                    <a:p>
                      <a:pPr algn="ctr">
                        <a:defRPr sz="1400"/>
                      </a:pPr>
                      <a:r>
                        <a:t>Used for explainable ASD predictions.</a:t>
                      </a:r>
                    </a:p>
                  </a:txBody>
                  <a:tcPr marL="45720" marR="45720" marT="45720" marB="45720" anchor="t" anchorCtr="0" horzOverflow="overflow"/>
                </a:tc>
              </a:tr>
              <a:tr h="874200">
                <a:tc>
                  <a:txBody>
                    <a:bodyPr/>
                    <a:lstStyle/>
                    <a:p>
                      <a:pPr algn="ctr">
                        <a:defRPr sz="1800"/>
                      </a:pPr>
                      <a:r>
                        <a:rPr sz="1400">
                          <a:latin typeface="Times New Roman"/>
                          <a:ea typeface="Times New Roman"/>
                          <a:cs typeface="Times New Roman"/>
                          <a:sym typeface="Times New Roman"/>
                        </a:rPr>
                        <a:t>08.</a:t>
                      </a:r>
                    </a:p>
                  </a:txBody>
                  <a:tcPr marL="45720" marR="45720" marT="45720" marB="45720" anchor="t" anchorCtr="0" horzOverflow="overflow"/>
                </a:tc>
                <a:tc>
                  <a:txBody>
                    <a:bodyPr/>
                    <a:lstStyle/>
                    <a:p>
                      <a:pPr algn="ctr">
                        <a:defRPr sz="1400"/>
                      </a:pPr>
                      <a:r>
                        <a:t>Deep Learning for Behavioral Analysis</a:t>
                      </a:r>
                    </a:p>
                  </a:txBody>
                  <a:tcPr marL="45720" marR="45720" marT="45720" marB="45720" anchor="t" anchorCtr="0" horzOverflow="overflow"/>
                </a:tc>
                <a:tc>
                  <a:txBody>
                    <a:bodyPr/>
                    <a:lstStyle/>
                    <a:p>
                      <a:pPr algn="ctr">
                        <a:defRPr sz="1400"/>
                      </a:pPr>
                      <a:r>
                        <a:t>Goodfellow et al., 2016</a:t>
                      </a:r>
                    </a:p>
                  </a:txBody>
                  <a:tcPr marL="45720" marR="45720" marT="45720" marB="45720" anchor="t" anchorCtr="0" horzOverflow="overflow"/>
                </a:tc>
                <a:tc>
                  <a:txBody>
                    <a:bodyPr/>
                    <a:lstStyle/>
                    <a:p>
                      <a:pPr algn="ctr">
                        <a:defRPr sz="1400"/>
                      </a:pPr>
                      <a:r>
                        <a:t>Applied deep neural networks for pattern recognition.</a:t>
                      </a:r>
                    </a:p>
                  </a:txBody>
                  <a:tcPr marL="45720" marR="45720" marT="45720" marB="45720" anchor="t" anchorCtr="0" horzOverflow="overflow"/>
                </a:tc>
                <a:tc>
                  <a:txBody>
                    <a:bodyPr/>
                    <a:lstStyle/>
                    <a:p>
                      <a:pPr algn="ctr">
                        <a:defRPr sz="1400"/>
                      </a:pPr>
                      <a:r>
                        <a:t>DL models perform well in complex behavioral analysis.</a:t>
                      </a:r>
                    </a:p>
                  </a:txBody>
                  <a:tcPr marL="45720" marR="45720" marT="45720" marB="45720" anchor="t" anchorCtr="0" horzOverflow="overflow"/>
                </a:tc>
                <a:tc>
                  <a:txBody>
                    <a:bodyPr/>
                    <a:lstStyle/>
                    <a:p>
                      <a:pPr algn="ctr">
                        <a:defRPr sz="1800"/>
                      </a:pPr>
                      <a:r>
                        <a:rPr sz="1400"/>
                        <a:t>Supports deep learning modules in system.</a:t>
                      </a:r>
                    </a:p>
                  </a:txBody>
                  <a:tcPr marL="45720" marR="45720" marT="45720" marB="45720" anchor="t" anchorCtr="0" horzOverflow="overflow"/>
                </a:tc>
              </a:tr>
            </a:tbl>
          </a:graphicData>
        </a:graphic>
      </p:graphicFrame>
      <p:pic>
        <p:nvPicPr>
          <p:cNvPr id="170" name="Picture 1" descr="Picture 1"/>
          <p:cNvPicPr>
            <a:picLocks noChangeAspect="1"/>
          </p:cNvPicPr>
          <p:nvPr/>
        </p:nvPicPr>
        <p:blipFill>
          <a:blip r:embed="rId2">
            <a:extLst/>
          </a:blip>
          <a:stretch>
            <a:fillRect/>
          </a:stretch>
        </p:blipFill>
        <p:spPr>
          <a:xfrm>
            <a:off x="76200" y="6475491"/>
            <a:ext cx="375082" cy="382510"/>
          </a:xfrm>
          <a:prstGeom prst="rect">
            <a:avLst/>
          </a:prstGeom>
          <a:ln w="12700">
            <a:miter lim="400000"/>
          </a:ln>
        </p:spPr>
      </p:pic>
      <p:sp>
        <p:nvSpPr>
          <p:cNvPr id="171" name="TextBox 7"/>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Title 1"/>
          <p:cNvSpPr txBox="1"/>
          <p:nvPr>
            <p:ph type="title"/>
          </p:nvPr>
        </p:nvSpPr>
        <p:spPr>
          <a:xfrm>
            <a:off x="0" y="625724"/>
            <a:ext cx="9144000" cy="868364"/>
          </a:xfrm>
          <a:prstGeom prst="rect">
            <a:avLst/>
          </a:prstGeom>
        </p:spPr>
        <p:txBody>
          <a:bodyPr/>
          <a:lstStyle>
            <a:lvl1pPr>
              <a:defRPr b="1" sz="3200">
                <a:solidFill>
                  <a:schemeClr val="accent3"/>
                </a:solidFill>
                <a:latin typeface="Times New Roman"/>
                <a:ea typeface="Times New Roman"/>
                <a:cs typeface="Times New Roman"/>
                <a:sym typeface="Times New Roman"/>
              </a:defRPr>
            </a:lvl1pPr>
          </a:lstStyle>
          <a:p>
            <a:pPr/>
            <a:r>
              <a:t>OUTCOME OF THE LITERATURE SURVEY</a:t>
            </a:r>
          </a:p>
        </p:txBody>
      </p:sp>
      <p:grpSp>
        <p:nvGrpSpPr>
          <p:cNvPr id="176" name="Title 1"/>
          <p:cNvGrpSpPr/>
          <p:nvPr/>
        </p:nvGrpSpPr>
        <p:grpSpPr>
          <a:xfrm>
            <a:off x="0" y="-609"/>
            <a:ext cx="9144000" cy="304801"/>
            <a:chOff x="0" y="33020"/>
            <a:chExt cx="9144000" cy="304800"/>
          </a:xfrm>
        </p:grpSpPr>
        <p:sp>
          <p:nvSpPr>
            <p:cNvPr id="174" name="Rectangle"/>
            <p:cNvSpPr/>
            <p:nvPr/>
          </p:nvSpPr>
          <p:spPr>
            <a:xfrm>
              <a:off x="0" y="33020"/>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175" name="Literature Survey"/>
            <p:cNvSpPr/>
            <p:nvPr/>
          </p:nvSpPr>
          <p:spPr>
            <a:xfrm>
              <a:off x="45719" y="185420"/>
              <a:ext cx="905256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Book Antiqua"/>
                  <a:ea typeface="Book Antiqua"/>
                  <a:cs typeface="Book Antiqua"/>
                  <a:sym typeface="Book Antiqua"/>
                </a:defRPr>
              </a:lvl1pPr>
            </a:lstStyle>
            <a:p>
              <a:pPr/>
              <a:r>
                <a:t>Literature Survey</a:t>
              </a:r>
            </a:p>
          </p:txBody>
        </p:sp>
      </p:grpSp>
      <p:grpSp>
        <p:nvGrpSpPr>
          <p:cNvPr id="179" name="Footer Placeholder 6"/>
          <p:cNvGrpSpPr/>
          <p:nvPr/>
        </p:nvGrpSpPr>
        <p:grpSpPr>
          <a:xfrm>
            <a:off x="0" y="6492875"/>
            <a:ext cx="9144000" cy="365125"/>
            <a:chOff x="0" y="0"/>
            <a:chExt cx="9144000" cy="365125"/>
          </a:xfrm>
        </p:grpSpPr>
        <p:sp>
          <p:nvSpPr>
            <p:cNvPr id="177"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178"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a:t>
              </a:r>
            </a:p>
          </p:txBody>
        </p:sp>
      </p:grpSp>
      <p:pic>
        <p:nvPicPr>
          <p:cNvPr id="180" name="Picture 1" descr="Picture 1"/>
          <p:cNvPicPr>
            <a:picLocks noChangeAspect="1"/>
          </p:cNvPicPr>
          <p:nvPr/>
        </p:nvPicPr>
        <p:blipFill>
          <a:blip r:embed="rId2">
            <a:extLst/>
          </a:blip>
          <a:stretch>
            <a:fillRect/>
          </a:stretch>
        </p:blipFill>
        <p:spPr>
          <a:xfrm>
            <a:off x="76200" y="6475491"/>
            <a:ext cx="375082" cy="382510"/>
          </a:xfrm>
          <a:prstGeom prst="rect">
            <a:avLst/>
          </a:prstGeom>
          <a:ln w="12700">
            <a:miter lim="400000"/>
          </a:ln>
        </p:spPr>
      </p:pic>
      <p:sp>
        <p:nvSpPr>
          <p:cNvPr id="181" name="Rectangle 1"/>
          <p:cNvSpPr txBox="1"/>
          <p:nvPr>
            <p:ph type="body" idx="1"/>
          </p:nvPr>
        </p:nvSpPr>
        <p:spPr>
          <a:xfrm>
            <a:off x="251519" y="1813466"/>
            <a:ext cx="8712970" cy="4093429"/>
          </a:xfrm>
          <a:prstGeom prst="rect">
            <a:avLst/>
          </a:prstGeom>
        </p:spPr>
        <p:txBody>
          <a:bodyPr anchor="ctr"/>
          <a:lstStyle/>
          <a:p>
            <a:pPr algn="just">
              <a:spcBef>
                <a:spcPts val="0"/>
              </a:spcBef>
              <a:defRPr sz="2000">
                <a:latin typeface="Times New Roman"/>
                <a:ea typeface="Times New Roman"/>
                <a:cs typeface="Times New Roman"/>
                <a:sym typeface="Times New Roman"/>
              </a:defRPr>
            </a:pPr>
            <a:r>
              <a:t>Machine learning techniques can effectively detect ASD using behavioural data</a:t>
            </a:r>
          </a:p>
          <a:p>
            <a:pPr marL="0" indent="0" algn="just">
              <a:spcBef>
                <a:spcPts val="0"/>
              </a:spcBef>
              <a:buSzTx/>
              <a:buNone/>
              <a:defRPr sz="2000">
                <a:latin typeface="Times New Roman"/>
                <a:ea typeface="Times New Roman"/>
                <a:cs typeface="Times New Roman"/>
                <a:sym typeface="Times New Roman"/>
              </a:defRPr>
            </a:pPr>
          </a:p>
          <a:p>
            <a:pPr algn="just">
              <a:spcBef>
                <a:spcPts val="0"/>
              </a:spcBef>
              <a:defRPr sz="2000">
                <a:latin typeface="Times New Roman"/>
                <a:ea typeface="Times New Roman"/>
                <a:cs typeface="Times New Roman"/>
                <a:sym typeface="Times New Roman"/>
              </a:defRPr>
            </a:pPr>
            <a:r>
              <a:t>Facial expression and eye gaze analysis provide important non-verbal indicators.</a:t>
            </a:r>
          </a:p>
          <a:p>
            <a:pPr marL="0" indent="0" algn="just">
              <a:spcBef>
                <a:spcPts val="0"/>
              </a:spcBef>
              <a:buSzTx/>
              <a:buNone/>
              <a:defRPr sz="2000">
                <a:latin typeface="Times New Roman"/>
                <a:ea typeface="Times New Roman"/>
                <a:cs typeface="Times New Roman"/>
                <a:sym typeface="Times New Roman"/>
              </a:defRPr>
            </a:pPr>
          </a:p>
          <a:p>
            <a:pPr algn="just">
              <a:spcBef>
                <a:spcPts val="0"/>
              </a:spcBef>
              <a:defRPr sz="2000">
                <a:latin typeface="Times New Roman"/>
                <a:ea typeface="Times New Roman"/>
                <a:cs typeface="Times New Roman"/>
                <a:sym typeface="Times New Roman"/>
              </a:defRPr>
            </a:pPr>
            <a:r>
              <a:t>Speech patterns help in identifying communication-related differences.</a:t>
            </a:r>
          </a:p>
          <a:p>
            <a:pPr marL="0" indent="0" algn="just">
              <a:spcBef>
                <a:spcPts val="0"/>
              </a:spcBef>
              <a:buSzTx/>
              <a:buNone/>
              <a:defRPr sz="2000">
                <a:latin typeface="Times New Roman"/>
                <a:ea typeface="Times New Roman"/>
                <a:cs typeface="Times New Roman"/>
                <a:sym typeface="Times New Roman"/>
              </a:defRPr>
            </a:pPr>
          </a:p>
          <a:p>
            <a:pPr algn="just">
              <a:spcBef>
                <a:spcPts val="0"/>
              </a:spcBef>
              <a:defRPr sz="2000">
                <a:latin typeface="Times New Roman"/>
                <a:ea typeface="Times New Roman"/>
                <a:cs typeface="Times New Roman"/>
                <a:sym typeface="Times New Roman"/>
              </a:defRPr>
            </a:pPr>
            <a:r>
              <a:t>Multimodal approaches improve accuracy compared to single-model systems.</a:t>
            </a:r>
          </a:p>
          <a:p>
            <a:pPr marL="0" indent="0" algn="just">
              <a:spcBef>
                <a:spcPts val="0"/>
              </a:spcBef>
              <a:buSzTx/>
              <a:buNone/>
              <a:defRPr sz="2000">
                <a:latin typeface="Times New Roman"/>
                <a:ea typeface="Times New Roman"/>
                <a:cs typeface="Times New Roman"/>
                <a:sym typeface="Times New Roman"/>
              </a:defRPr>
            </a:pPr>
          </a:p>
          <a:p>
            <a:pPr algn="just">
              <a:spcBef>
                <a:spcPts val="0"/>
              </a:spcBef>
              <a:defRPr sz="2000">
                <a:latin typeface="Times New Roman"/>
                <a:ea typeface="Times New Roman"/>
                <a:cs typeface="Times New Roman"/>
                <a:sym typeface="Times New Roman"/>
              </a:defRPr>
            </a:pPr>
            <a:r>
              <a:t>Most existing systems lack proper explainability and transparency.</a:t>
            </a:r>
          </a:p>
          <a:p>
            <a:pPr marL="0" indent="0" algn="just">
              <a:spcBef>
                <a:spcPts val="0"/>
              </a:spcBef>
              <a:buSzTx/>
              <a:buNone/>
              <a:defRPr sz="2000">
                <a:latin typeface="Times New Roman"/>
                <a:ea typeface="Times New Roman"/>
                <a:cs typeface="Times New Roman"/>
                <a:sym typeface="Times New Roman"/>
              </a:defRPr>
            </a:pPr>
          </a:p>
          <a:p>
            <a:pPr algn="just">
              <a:spcBef>
                <a:spcPts val="0"/>
              </a:spcBef>
              <a:defRPr sz="2000">
                <a:latin typeface="Times New Roman"/>
                <a:ea typeface="Times New Roman"/>
                <a:cs typeface="Times New Roman"/>
                <a:sym typeface="Times New Roman"/>
              </a:defRPr>
            </a:pPr>
            <a:r>
              <a:t>Hence, there is a need for an integrated, accurate, and explainable multimodal ASD detection system.</a:t>
            </a:r>
          </a:p>
        </p:txBody>
      </p:sp>
      <p:sp>
        <p:nvSpPr>
          <p:cNvPr id="182" name="TextBox 3"/>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Title 1"/>
          <p:cNvSpPr txBox="1"/>
          <p:nvPr>
            <p:ph type="ctrTitle"/>
          </p:nvPr>
        </p:nvSpPr>
        <p:spPr>
          <a:xfrm>
            <a:off x="-36513" y="381404"/>
            <a:ext cx="9144001" cy="648073"/>
          </a:xfrm>
          <a:prstGeom prst="rect">
            <a:avLst/>
          </a:prstGeom>
        </p:spPr>
        <p:txBody>
          <a:bodyPr/>
          <a:lstStyle>
            <a:lvl1pPr>
              <a:defRPr b="1" sz="3600">
                <a:solidFill>
                  <a:schemeClr val="accent3"/>
                </a:solidFill>
                <a:latin typeface="Times New Roman"/>
                <a:ea typeface="Times New Roman"/>
                <a:cs typeface="Times New Roman"/>
                <a:sym typeface="Times New Roman"/>
              </a:defRPr>
            </a:lvl1pPr>
          </a:lstStyle>
          <a:p>
            <a:pPr/>
            <a:r>
              <a:t>PROPOSED WORK</a:t>
            </a:r>
          </a:p>
        </p:txBody>
      </p:sp>
      <p:grpSp>
        <p:nvGrpSpPr>
          <p:cNvPr id="187" name="Title 1"/>
          <p:cNvGrpSpPr/>
          <p:nvPr/>
        </p:nvGrpSpPr>
        <p:grpSpPr>
          <a:xfrm>
            <a:off x="0" y="0"/>
            <a:ext cx="9144000" cy="304800"/>
            <a:chOff x="0" y="33020"/>
            <a:chExt cx="9144000" cy="304800"/>
          </a:xfrm>
        </p:grpSpPr>
        <p:sp>
          <p:nvSpPr>
            <p:cNvPr id="185" name="Rectangle"/>
            <p:cNvSpPr/>
            <p:nvPr/>
          </p:nvSpPr>
          <p:spPr>
            <a:xfrm>
              <a:off x="0" y="33020"/>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186" name="Proposed Work"/>
            <p:cNvSpPr/>
            <p:nvPr/>
          </p:nvSpPr>
          <p:spPr>
            <a:xfrm>
              <a:off x="45719" y="185420"/>
              <a:ext cx="905256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Book Antiqua"/>
                  <a:ea typeface="Book Antiqua"/>
                  <a:cs typeface="Book Antiqua"/>
                  <a:sym typeface="Book Antiqua"/>
                </a:defRPr>
              </a:lvl1pPr>
            </a:lstStyle>
            <a:p>
              <a:pPr/>
              <a:r>
                <a:t>Proposed Work</a:t>
              </a:r>
            </a:p>
          </p:txBody>
        </p:sp>
      </p:grpSp>
      <p:sp>
        <p:nvSpPr>
          <p:cNvPr id="188" name="Rectangle 1"/>
          <p:cNvSpPr txBox="1"/>
          <p:nvPr>
            <p:ph type="subTitle" idx="1"/>
          </p:nvPr>
        </p:nvSpPr>
        <p:spPr>
          <a:xfrm>
            <a:off x="142999" y="1073061"/>
            <a:ext cx="8784978" cy="5139869"/>
          </a:xfrm>
          <a:prstGeom prst="rect">
            <a:avLst/>
          </a:prstGeom>
        </p:spPr>
        <p:txBody>
          <a:bodyPr anchor="ctr"/>
          <a:lstStyle/>
          <a:p>
            <a:pPr marL="120315" indent="-120315" algn="l" defTabSz="457200">
              <a:spcBef>
                <a:spcPts val="0"/>
              </a:spcBef>
              <a:buSzPct val="100000"/>
              <a:buChar char="•"/>
              <a:defRPr sz="2200">
                <a:solidFill>
                  <a:srgbClr val="000000"/>
                </a:solidFill>
                <a:latin typeface="Times Roman"/>
                <a:ea typeface="Times Roman"/>
                <a:cs typeface="Times Roman"/>
                <a:sym typeface="Times Roman"/>
              </a:defRPr>
            </a:pPr>
            <a:r>
              <a:t>NeuroSense AI is a multimodal ASD screening system designed to overcome limitations of traditional methods such as subjectivity and delayed diagnosis.</a:t>
            </a:r>
          </a:p>
          <a:p>
            <a:pPr marL="120315" indent="-120315" algn="l" defTabSz="457200">
              <a:spcBef>
                <a:spcPts val="0"/>
              </a:spcBef>
              <a:buSzPct val="100000"/>
              <a:buChar char="•"/>
              <a:defRPr sz="2200">
                <a:solidFill>
                  <a:srgbClr val="000000"/>
                </a:solidFill>
                <a:latin typeface="Times Roman"/>
                <a:ea typeface="Times Roman"/>
                <a:cs typeface="Times Roman"/>
                <a:sym typeface="Times Roman"/>
              </a:defRPr>
            </a:pPr>
            <a:r>
              <a:t>The system uses AI techniques including machine learning, deep learning, computer vision, and speech analysis to enable early and reliable screening.</a:t>
            </a:r>
          </a:p>
          <a:p>
            <a:pPr marL="120315" indent="-120315" algn="l" defTabSz="457200">
              <a:spcBef>
                <a:spcPts val="0"/>
              </a:spcBef>
              <a:buSzPct val="100000"/>
              <a:buChar char="•"/>
              <a:defRPr sz="2200">
                <a:solidFill>
                  <a:srgbClr val="000000"/>
                </a:solidFill>
                <a:latin typeface="Times Roman"/>
                <a:ea typeface="Times Roman"/>
                <a:cs typeface="Times Roman"/>
                <a:sym typeface="Times Roman"/>
              </a:defRPr>
            </a:pPr>
            <a:r>
              <a:t>It analyses multiple inputs like questionnaire responses, facial expressions, eye gaze, and speech patterns to improve accuracy and consistency.</a:t>
            </a:r>
          </a:p>
          <a:p>
            <a:pPr algn="just">
              <a:spcBef>
                <a:spcPts val="0"/>
              </a:spcBef>
              <a:defRPr sz="2000">
                <a:solidFill>
                  <a:srgbClr val="000000"/>
                </a:solidFill>
                <a:latin typeface="Times New Roman"/>
                <a:ea typeface="Times New Roman"/>
                <a:cs typeface="Times New Roman"/>
                <a:sym typeface="Times New Roman"/>
              </a:defRPr>
            </a:pPr>
          </a:p>
        </p:txBody>
      </p:sp>
      <p:grpSp>
        <p:nvGrpSpPr>
          <p:cNvPr id="191" name="Footer Placeholder 6"/>
          <p:cNvGrpSpPr/>
          <p:nvPr/>
        </p:nvGrpSpPr>
        <p:grpSpPr>
          <a:xfrm>
            <a:off x="0" y="6492875"/>
            <a:ext cx="9144000" cy="365125"/>
            <a:chOff x="0" y="0"/>
            <a:chExt cx="9144000" cy="365125"/>
          </a:xfrm>
        </p:grpSpPr>
        <p:sp>
          <p:nvSpPr>
            <p:cNvPr id="189"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190"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a:t>
              </a:r>
            </a:p>
          </p:txBody>
        </p:sp>
      </p:grpSp>
      <p:pic>
        <p:nvPicPr>
          <p:cNvPr id="192" name="Picture 1" descr="Picture 1"/>
          <p:cNvPicPr>
            <a:picLocks noChangeAspect="1"/>
          </p:cNvPicPr>
          <p:nvPr/>
        </p:nvPicPr>
        <p:blipFill>
          <a:blip r:embed="rId2">
            <a:extLst/>
          </a:blip>
          <a:stretch>
            <a:fillRect/>
          </a:stretch>
        </p:blipFill>
        <p:spPr>
          <a:xfrm>
            <a:off x="76200" y="6475491"/>
            <a:ext cx="375082" cy="382510"/>
          </a:xfrm>
          <a:prstGeom prst="rect">
            <a:avLst/>
          </a:prstGeom>
          <a:ln w="12700">
            <a:miter lim="400000"/>
          </a:ln>
        </p:spPr>
      </p:pic>
      <p:sp>
        <p:nvSpPr>
          <p:cNvPr id="193" name="TextBox 6"/>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9</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97" name="Title 1"/>
          <p:cNvGrpSpPr/>
          <p:nvPr/>
        </p:nvGrpSpPr>
        <p:grpSpPr>
          <a:xfrm>
            <a:off x="0" y="0"/>
            <a:ext cx="9144000" cy="304800"/>
            <a:chOff x="0" y="33020"/>
            <a:chExt cx="9144000" cy="304800"/>
          </a:xfrm>
        </p:grpSpPr>
        <p:sp>
          <p:nvSpPr>
            <p:cNvPr id="195" name="Rectangle"/>
            <p:cNvSpPr/>
            <p:nvPr/>
          </p:nvSpPr>
          <p:spPr>
            <a:xfrm>
              <a:off x="0" y="33020"/>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196" name="System Architecture"/>
            <p:cNvSpPr/>
            <p:nvPr/>
          </p:nvSpPr>
          <p:spPr>
            <a:xfrm>
              <a:off x="45719" y="185420"/>
              <a:ext cx="905256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Book Antiqua"/>
                  <a:ea typeface="Book Antiqua"/>
                  <a:cs typeface="Book Antiqua"/>
                  <a:sym typeface="Book Antiqua"/>
                </a:defRPr>
              </a:lvl1pPr>
            </a:lstStyle>
            <a:p>
              <a:pPr/>
              <a:r>
                <a:t>System Architecture</a:t>
              </a:r>
            </a:p>
          </p:txBody>
        </p:sp>
      </p:grpSp>
      <p:pic>
        <p:nvPicPr>
          <p:cNvPr id="198" name="User Interaction with NLP-2026-03-23-055044.png" descr="User Interaction with NLP-2026-03-23-055044.png"/>
          <p:cNvPicPr>
            <a:picLocks noChangeAspect="1"/>
          </p:cNvPicPr>
          <p:nvPr/>
        </p:nvPicPr>
        <p:blipFill>
          <a:blip r:embed="rId2">
            <a:extLst/>
          </a:blip>
          <a:stretch>
            <a:fillRect/>
          </a:stretch>
        </p:blipFill>
        <p:spPr>
          <a:xfrm>
            <a:off x="0" y="510794"/>
            <a:ext cx="9144000" cy="5836412"/>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lide Number Placeholder 1"/>
          <p:cNvSpPr txBox="1"/>
          <p:nvPr>
            <p:ph type="sldNum" sz="quarter" idx="2"/>
          </p:nvPr>
        </p:nvSpPr>
        <p:spPr>
          <a:xfrm>
            <a:off x="8428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203" name="Title 1"/>
          <p:cNvGrpSpPr/>
          <p:nvPr/>
        </p:nvGrpSpPr>
        <p:grpSpPr>
          <a:xfrm>
            <a:off x="0" y="-21815"/>
            <a:ext cx="9144000" cy="348430"/>
            <a:chOff x="0" y="0"/>
            <a:chExt cx="9144000" cy="348428"/>
          </a:xfrm>
        </p:grpSpPr>
        <p:sp>
          <p:nvSpPr>
            <p:cNvPr id="201" name="Rectangle"/>
            <p:cNvSpPr/>
            <p:nvPr/>
          </p:nvSpPr>
          <p:spPr>
            <a:xfrm>
              <a:off x="0" y="21814"/>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Times New Roman"/>
                  <a:ea typeface="Times New Roman"/>
                  <a:cs typeface="Times New Roman"/>
                  <a:sym typeface="Times New Roman"/>
                </a:defRPr>
              </a:pPr>
            </a:p>
          </p:txBody>
        </p:sp>
        <p:sp>
          <p:nvSpPr>
            <p:cNvPr id="202" name="Requirements to Develop the Project"/>
            <p:cNvSpPr txBox="1"/>
            <p:nvPr/>
          </p:nvSpPr>
          <p:spPr>
            <a:xfrm>
              <a:off x="45719" y="0"/>
              <a:ext cx="9052561" cy="3484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Times New Roman"/>
                  <a:ea typeface="Times New Roman"/>
                  <a:cs typeface="Times New Roman"/>
                  <a:sym typeface="Times New Roman"/>
                </a:defRPr>
              </a:lvl1pPr>
            </a:lstStyle>
            <a:p>
              <a:pPr/>
              <a:r>
                <a:t>Requirements to Develop the Project </a:t>
              </a:r>
            </a:p>
          </p:txBody>
        </p:sp>
      </p:grpSp>
      <p:grpSp>
        <p:nvGrpSpPr>
          <p:cNvPr id="206" name="Footer Placeholder 6"/>
          <p:cNvGrpSpPr/>
          <p:nvPr/>
        </p:nvGrpSpPr>
        <p:grpSpPr>
          <a:xfrm>
            <a:off x="0" y="6492875"/>
            <a:ext cx="9144000" cy="365125"/>
            <a:chOff x="0" y="0"/>
            <a:chExt cx="9144000" cy="365125"/>
          </a:xfrm>
        </p:grpSpPr>
        <p:sp>
          <p:nvSpPr>
            <p:cNvPr id="204"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205"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a:t>
              </a:r>
            </a:p>
          </p:txBody>
        </p:sp>
      </p:grpSp>
      <p:pic>
        <p:nvPicPr>
          <p:cNvPr id="207" name="Picture 1" descr="Picture 1"/>
          <p:cNvPicPr>
            <a:picLocks noChangeAspect="1"/>
          </p:cNvPicPr>
          <p:nvPr/>
        </p:nvPicPr>
        <p:blipFill>
          <a:blip r:embed="rId2">
            <a:extLst/>
          </a:blip>
          <a:stretch>
            <a:fillRect/>
          </a:stretch>
        </p:blipFill>
        <p:spPr>
          <a:xfrm>
            <a:off x="76200" y="6475491"/>
            <a:ext cx="375082" cy="382510"/>
          </a:xfrm>
          <a:prstGeom prst="rect">
            <a:avLst/>
          </a:prstGeom>
          <a:ln w="12700">
            <a:miter lim="400000"/>
          </a:ln>
        </p:spPr>
      </p:pic>
      <p:sp>
        <p:nvSpPr>
          <p:cNvPr id="208" name="TextBox 6"/>
          <p:cNvSpPr txBox="1"/>
          <p:nvPr/>
        </p:nvSpPr>
        <p:spPr>
          <a:xfrm>
            <a:off x="153223" y="632400"/>
            <a:ext cx="8837553" cy="64068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400"/>
              </a:spcBef>
              <a:defRPr b="1">
                <a:latin typeface="Times Roman"/>
                <a:ea typeface="Times Roman"/>
                <a:cs typeface="Times Roman"/>
                <a:sym typeface="Times Roman"/>
              </a:defRPr>
            </a:pPr>
            <a:r>
              <a:t> </a:t>
            </a:r>
            <a:r>
              <a:rPr sz="1900"/>
              <a:t>Hardware Requirements</a:t>
            </a:r>
            <a:endParaRPr sz="1900"/>
          </a:p>
          <a:p>
            <a:pPr marL="120315" indent="-120315" defTabSz="457200">
              <a:spcBef>
                <a:spcPts val="1200"/>
              </a:spcBef>
              <a:buSzPct val="100000"/>
              <a:buChar char="•"/>
              <a:defRPr sz="1900">
                <a:latin typeface="Times Roman"/>
                <a:ea typeface="Times Roman"/>
                <a:cs typeface="Times Roman"/>
                <a:sym typeface="Times Roman"/>
              </a:defRPr>
            </a:pPr>
            <a:r>
              <a:t>Webcam for capturing facial expressions</a:t>
            </a:r>
          </a:p>
          <a:p>
            <a:pPr marL="120315" indent="-120315" defTabSz="457200">
              <a:spcBef>
                <a:spcPts val="1200"/>
              </a:spcBef>
              <a:buSzPct val="100000"/>
              <a:buChar char="•"/>
              <a:defRPr sz="1900">
                <a:latin typeface="Times Roman"/>
                <a:ea typeface="Times Roman"/>
                <a:cs typeface="Times Roman"/>
                <a:sym typeface="Times Roman"/>
              </a:defRPr>
            </a:pPr>
            <a:r>
              <a:t>Microphone for recording speech data</a:t>
            </a:r>
          </a:p>
          <a:p>
            <a:pPr marL="120315" indent="-120315" defTabSz="457200">
              <a:spcBef>
                <a:spcPts val="1200"/>
              </a:spcBef>
              <a:buSzPct val="100000"/>
              <a:buChar char="•"/>
              <a:defRPr sz="1900">
                <a:latin typeface="Times Roman"/>
                <a:ea typeface="Times Roman"/>
                <a:cs typeface="Times Roman"/>
                <a:sym typeface="Times Roman"/>
              </a:defRPr>
            </a:pPr>
            <a:r>
              <a:t>Computer/Laptop with good processing capability</a:t>
            </a:r>
          </a:p>
          <a:p>
            <a:pPr marL="120315" indent="-120315" defTabSz="457200">
              <a:spcBef>
                <a:spcPts val="1200"/>
              </a:spcBef>
              <a:buSzPct val="100000"/>
              <a:buChar char="•"/>
              <a:defRPr sz="1900">
                <a:latin typeface="Times Roman"/>
                <a:ea typeface="Times Roman"/>
                <a:cs typeface="Times Roman"/>
                <a:sym typeface="Times Roman"/>
              </a:defRPr>
            </a:pPr>
            <a:r>
              <a:t> GPU for training deep learning models</a:t>
            </a:r>
          </a:p>
          <a:p>
            <a:pPr defTabSz="457200">
              <a:defRPr sz="1900">
                <a:solidFill>
                  <a:srgbClr val="808080"/>
                </a:solidFill>
                <a:latin typeface="Times Roman"/>
                <a:ea typeface="Times Roman"/>
                <a:cs typeface="Times Roman"/>
                <a:sym typeface="Times Roman"/>
              </a:defRPr>
            </a:pPr>
          </a:p>
          <a:p>
            <a:pPr defTabSz="457200">
              <a:spcBef>
                <a:spcPts val="1400"/>
              </a:spcBef>
              <a:defRPr b="1" sz="1900">
                <a:latin typeface="Times Roman"/>
                <a:ea typeface="Times Roman"/>
                <a:cs typeface="Times Roman"/>
                <a:sym typeface="Times Roman"/>
              </a:defRPr>
            </a:pPr>
            <a:r>
              <a:t> Software Requirements</a:t>
            </a:r>
          </a:p>
          <a:p>
            <a:pPr marL="120315" indent="-120315" defTabSz="457200">
              <a:spcBef>
                <a:spcPts val="1200"/>
              </a:spcBef>
              <a:buSzPct val="100000"/>
              <a:buChar char="•"/>
              <a:defRPr sz="1900">
                <a:latin typeface="Times Roman"/>
                <a:ea typeface="Times Roman"/>
                <a:cs typeface="Times Roman"/>
                <a:sym typeface="Times Roman"/>
              </a:defRPr>
            </a:pPr>
            <a:r>
              <a:t>Frontend: React.js for building user interface</a:t>
            </a:r>
          </a:p>
          <a:p>
            <a:pPr marL="120315" indent="-120315" defTabSz="457200">
              <a:spcBef>
                <a:spcPts val="1200"/>
              </a:spcBef>
              <a:buSzPct val="100000"/>
              <a:buChar char="•"/>
              <a:defRPr sz="1900">
                <a:latin typeface="Times Roman"/>
                <a:ea typeface="Times Roman"/>
                <a:cs typeface="Times Roman"/>
                <a:sym typeface="Times Roman"/>
              </a:defRPr>
            </a:pPr>
            <a:r>
              <a:t>Backend: FastAPI for API development</a:t>
            </a:r>
          </a:p>
          <a:p>
            <a:pPr marL="120315" indent="-120315" defTabSz="457200">
              <a:spcBef>
                <a:spcPts val="1200"/>
              </a:spcBef>
              <a:buSzPct val="100000"/>
              <a:buChar char="•"/>
              <a:defRPr sz="1900">
                <a:latin typeface="Times Roman"/>
                <a:ea typeface="Times Roman"/>
                <a:cs typeface="Times Roman"/>
                <a:sym typeface="Times Roman"/>
              </a:defRPr>
            </a:pPr>
            <a:r>
              <a:t>Database: MongoDB for storing user data</a:t>
            </a:r>
          </a:p>
          <a:p>
            <a:pPr marL="120315" indent="-120315" defTabSz="457200">
              <a:spcBef>
                <a:spcPts val="1200"/>
              </a:spcBef>
              <a:buSzPct val="100000"/>
              <a:buChar char="•"/>
              <a:defRPr sz="1900">
                <a:latin typeface="Times Roman"/>
                <a:ea typeface="Times Roman"/>
                <a:cs typeface="Times Roman"/>
                <a:sym typeface="Times Roman"/>
              </a:defRPr>
            </a:pPr>
            <a:r>
              <a:t>Machine Learning:  XGBoost</a:t>
            </a:r>
          </a:p>
          <a:p>
            <a:pPr marL="120315" indent="-120315" defTabSz="457200">
              <a:spcBef>
                <a:spcPts val="1200"/>
              </a:spcBef>
              <a:buSzPct val="100000"/>
              <a:buChar char="•"/>
              <a:defRPr sz="1900">
                <a:latin typeface="Times Roman"/>
                <a:ea typeface="Times Roman"/>
                <a:cs typeface="Times Roman"/>
                <a:sym typeface="Times Roman"/>
              </a:defRPr>
            </a:pPr>
            <a:r>
              <a:t>Computer Vision: OpenCV</a:t>
            </a:r>
          </a:p>
          <a:p>
            <a:pPr marL="120315" indent="-120315" defTabSz="457200">
              <a:spcBef>
                <a:spcPts val="1200"/>
              </a:spcBef>
              <a:buSzPct val="100000"/>
              <a:buChar char="•"/>
              <a:defRPr sz="1900">
                <a:latin typeface="Times Roman"/>
                <a:ea typeface="Times Roman"/>
                <a:cs typeface="Times Roman"/>
                <a:sym typeface="Times Roman"/>
              </a:defRPr>
            </a:pPr>
            <a:r>
              <a:t>Explainable AI: SHAP, LIME</a:t>
            </a:r>
          </a:p>
          <a:p>
            <a:pPr defTabSz="457200">
              <a:spcBef>
                <a:spcPts val="1200"/>
              </a:spcBef>
              <a:defRPr sz="1200">
                <a:latin typeface="Times Roman"/>
                <a:ea typeface="Times Roman"/>
                <a:cs typeface="Times Roman"/>
                <a:sym typeface="Times Roman"/>
              </a:defRPr>
            </a:pPr>
          </a:p>
        </p:txBody>
      </p:sp>
      <p:sp>
        <p:nvSpPr>
          <p:cNvPr id="209" name="TextBox 8"/>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17</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Title 1"/>
          <p:cNvSpPr txBox="1"/>
          <p:nvPr>
            <p:ph type="title"/>
          </p:nvPr>
        </p:nvSpPr>
        <p:spPr>
          <a:xfrm>
            <a:off x="0" y="560392"/>
            <a:ext cx="9144000" cy="706090"/>
          </a:xfrm>
          <a:prstGeom prst="rect">
            <a:avLst/>
          </a:prstGeom>
        </p:spPr>
        <p:txBody>
          <a:bodyPr/>
          <a:lstStyle>
            <a:lvl1pPr>
              <a:defRPr b="1" sz="3600">
                <a:solidFill>
                  <a:schemeClr val="accent3"/>
                </a:solidFill>
                <a:latin typeface="Times New Roman"/>
                <a:ea typeface="Times New Roman"/>
                <a:cs typeface="Times New Roman"/>
                <a:sym typeface="Times New Roman"/>
              </a:defRPr>
            </a:lvl1pPr>
          </a:lstStyle>
          <a:p>
            <a:pPr/>
            <a:r>
              <a:t>APPLICATIONS</a:t>
            </a:r>
          </a:p>
        </p:txBody>
      </p:sp>
      <p:sp>
        <p:nvSpPr>
          <p:cNvPr id="212" name="Content Placeholder 2"/>
          <p:cNvSpPr txBox="1"/>
          <p:nvPr>
            <p:ph type="body" idx="1"/>
          </p:nvPr>
        </p:nvSpPr>
        <p:spPr>
          <a:xfrm>
            <a:off x="179511" y="1772816"/>
            <a:ext cx="8712970" cy="4209332"/>
          </a:xfrm>
          <a:prstGeom prst="rect">
            <a:avLst/>
          </a:prstGeom>
        </p:spPr>
        <p:txBody>
          <a:bodyPr/>
          <a:lstStyle/>
          <a:p>
            <a:pPr>
              <a:spcBef>
                <a:spcPts val="400"/>
              </a:spcBef>
              <a:defRPr b="1" sz="2000">
                <a:latin typeface="Times New Roman"/>
                <a:ea typeface="Times New Roman"/>
                <a:cs typeface="Times New Roman"/>
                <a:sym typeface="Times New Roman"/>
              </a:defRPr>
            </a:pPr>
            <a:r>
              <a:t>Early Autism Screening</a:t>
            </a:r>
            <a:br/>
            <a:r>
              <a:rPr b="0"/>
              <a:t>Enables early identification of ASD risk in children using AI-based analysis.</a:t>
            </a:r>
            <a:endParaRPr b="0"/>
          </a:p>
          <a:p>
            <a:pPr>
              <a:spcBef>
                <a:spcPts val="400"/>
              </a:spcBef>
              <a:defRPr b="1" sz="2000">
                <a:latin typeface="Times New Roman"/>
                <a:ea typeface="Times New Roman"/>
                <a:cs typeface="Times New Roman"/>
                <a:sym typeface="Times New Roman"/>
              </a:defRPr>
            </a:pPr>
            <a:r>
              <a:t>Clinical Decision Support</a:t>
            </a:r>
            <a:br/>
            <a:r>
              <a:rPr b="0"/>
              <a:t>Assists doctors and psychologists in preliminary ASD assessment.</a:t>
            </a:r>
            <a:endParaRPr b="0"/>
          </a:p>
          <a:p>
            <a:pPr>
              <a:spcBef>
                <a:spcPts val="400"/>
              </a:spcBef>
              <a:defRPr b="1" sz="2000">
                <a:latin typeface="Times New Roman"/>
                <a:ea typeface="Times New Roman"/>
                <a:cs typeface="Times New Roman"/>
                <a:sym typeface="Times New Roman"/>
              </a:defRPr>
            </a:pPr>
            <a:r>
              <a:t>Educational Support Systems</a:t>
            </a:r>
            <a:br/>
            <a:r>
              <a:rPr b="0"/>
              <a:t>Helps schools identify students who need special learning support.</a:t>
            </a:r>
            <a:endParaRPr b="0"/>
          </a:p>
          <a:p>
            <a:pPr>
              <a:spcBef>
                <a:spcPts val="400"/>
              </a:spcBef>
              <a:defRPr b="1" sz="2000">
                <a:latin typeface="Times New Roman"/>
                <a:ea typeface="Times New Roman"/>
                <a:cs typeface="Times New Roman"/>
                <a:sym typeface="Times New Roman"/>
              </a:defRPr>
            </a:pPr>
            <a:r>
              <a:t>Remote Screening and Telemedicine</a:t>
            </a:r>
            <a:br/>
            <a:r>
              <a:rPr b="0"/>
              <a:t>Allows ASD screening in remote areas without the need for specialists.</a:t>
            </a:r>
            <a:endParaRPr b="0"/>
          </a:p>
          <a:p>
            <a:pPr>
              <a:spcBef>
                <a:spcPts val="400"/>
              </a:spcBef>
              <a:defRPr b="1" sz="2000">
                <a:latin typeface="Times New Roman"/>
                <a:ea typeface="Times New Roman"/>
                <a:cs typeface="Times New Roman"/>
                <a:sym typeface="Times New Roman"/>
              </a:defRPr>
            </a:pPr>
            <a:r>
              <a:t>Parental Awareness and Monitoring</a:t>
            </a:r>
            <a:br/>
            <a:r>
              <a:rPr b="0"/>
              <a:t>Provides insights to parents about behavioral patterns and early signs.</a:t>
            </a:r>
            <a:endParaRPr b="0"/>
          </a:p>
          <a:p>
            <a:pPr>
              <a:spcBef>
                <a:spcPts val="400"/>
              </a:spcBef>
              <a:defRPr b="1" sz="2000">
                <a:latin typeface="Times New Roman"/>
                <a:ea typeface="Times New Roman"/>
                <a:cs typeface="Times New Roman"/>
                <a:sym typeface="Times New Roman"/>
              </a:defRPr>
            </a:pPr>
            <a:r>
              <a:t>Research and Behavioral Analysis</a:t>
            </a:r>
            <a:br/>
            <a:r>
              <a:rPr b="0"/>
              <a:t>Supports researchers in studying ASD-related behavioral data and trends.</a:t>
            </a:r>
          </a:p>
        </p:txBody>
      </p:sp>
      <p:sp>
        <p:nvSpPr>
          <p:cNvPr id="213" name="Slide Number Placeholder 3"/>
          <p:cNvSpPr txBox="1"/>
          <p:nvPr>
            <p:ph type="sldNum" sz="quarter" idx="2"/>
          </p:nvPr>
        </p:nvSpPr>
        <p:spPr>
          <a:xfrm>
            <a:off x="8428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216" name="Title 1"/>
          <p:cNvGrpSpPr/>
          <p:nvPr/>
        </p:nvGrpSpPr>
        <p:grpSpPr>
          <a:xfrm>
            <a:off x="0" y="0"/>
            <a:ext cx="9144000" cy="304800"/>
            <a:chOff x="0" y="33020"/>
            <a:chExt cx="9144000" cy="304800"/>
          </a:xfrm>
        </p:grpSpPr>
        <p:sp>
          <p:nvSpPr>
            <p:cNvPr id="214" name="Rectangle"/>
            <p:cNvSpPr/>
            <p:nvPr/>
          </p:nvSpPr>
          <p:spPr>
            <a:xfrm>
              <a:off x="0" y="33020"/>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215" name="Applications"/>
            <p:cNvSpPr/>
            <p:nvPr/>
          </p:nvSpPr>
          <p:spPr>
            <a:xfrm>
              <a:off x="45719" y="185420"/>
              <a:ext cx="905256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Book Antiqua"/>
                  <a:ea typeface="Book Antiqua"/>
                  <a:cs typeface="Book Antiqua"/>
                  <a:sym typeface="Book Antiqua"/>
                </a:defRPr>
              </a:lvl1pPr>
            </a:lstStyle>
            <a:p>
              <a:pPr/>
              <a:r>
                <a:t>Applications</a:t>
              </a:r>
            </a:p>
          </p:txBody>
        </p:sp>
      </p:grpSp>
      <p:grpSp>
        <p:nvGrpSpPr>
          <p:cNvPr id="219" name="Footer Placeholder 6"/>
          <p:cNvGrpSpPr/>
          <p:nvPr/>
        </p:nvGrpSpPr>
        <p:grpSpPr>
          <a:xfrm>
            <a:off x="0" y="6492875"/>
            <a:ext cx="9144000" cy="365125"/>
            <a:chOff x="0" y="0"/>
            <a:chExt cx="9144000" cy="365125"/>
          </a:xfrm>
        </p:grpSpPr>
        <p:sp>
          <p:nvSpPr>
            <p:cNvPr id="217"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218"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a:t>
              </a:r>
            </a:p>
          </p:txBody>
        </p:sp>
      </p:grpSp>
      <p:pic>
        <p:nvPicPr>
          <p:cNvPr id="220" name="Picture 1" descr="Picture 1"/>
          <p:cNvPicPr>
            <a:picLocks noChangeAspect="1"/>
          </p:cNvPicPr>
          <p:nvPr/>
        </p:nvPicPr>
        <p:blipFill>
          <a:blip r:embed="rId2">
            <a:extLst/>
          </a:blip>
          <a:stretch>
            <a:fillRect/>
          </a:stretch>
        </p:blipFill>
        <p:spPr>
          <a:xfrm>
            <a:off x="76200" y="6475491"/>
            <a:ext cx="375082" cy="382510"/>
          </a:xfrm>
          <a:prstGeom prst="rect">
            <a:avLst/>
          </a:prstGeom>
          <a:ln w="12700">
            <a:miter lim="400000"/>
          </a:ln>
        </p:spPr>
      </p:pic>
      <p:sp>
        <p:nvSpPr>
          <p:cNvPr id="221" name="TextBox 7"/>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18</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Title 1"/>
          <p:cNvSpPr txBox="1"/>
          <p:nvPr>
            <p:ph type="ctrTitle"/>
          </p:nvPr>
        </p:nvSpPr>
        <p:spPr>
          <a:xfrm>
            <a:off x="0" y="812000"/>
            <a:ext cx="9144000" cy="572007"/>
          </a:xfrm>
          <a:prstGeom prst="rect">
            <a:avLst/>
          </a:prstGeom>
        </p:spPr>
        <p:txBody>
          <a:bodyPr/>
          <a:lstStyle>
            <a:lvl1pPr defTabSz="877823">
              <a:defRPr b="1" sz="3455">
                <a:solidFill>
                  <a:schemeClr val="accent3"/>
                </a:solidFill>
                <a:latin typeface="Times New Roman"/>
                <a:ea typeface="Times New Roman"/>
                <a:cs typeface="Times New Roman"/>
                <a:sym typeface="Times New Roman"/>
              </a:defRPr>
            </a:lvl1pPr>
          </a:lstStyle>
          <a:p>
            <a:pPr/>
            <a:r>
              <a:t>CONCLUSION</a:t>
            </a:r>
          </a:p>
        </p:txBody>
      </p:sp>
      <p:grpSp>
        <p:nvGrpSpPr>
          <p:cNvPr id="226" name="Title 1"/>
          <p:cNvGrpSpPr/>
          <p:nvPr/>
        </p:nvGrpSpPr>
        <p:grpSpPr>
          <a:xfrm>
            <a:off x="0" y="0"/>
            <a:ext cx="9144000" cy="304800"/>
            <a:chOff x="0" y="33020"/>
            <a:chExt cx="9144000" cy="304800"/>
          </a:xfrm>
        </p:grpSpPr>
        <p:sp>
          <p:nvSpPr>
            <p:cNvPr id="224" name="Rectangle"/>
            <p:cNvSpPr/>
            <p:nvPr/>
          </p:nvSpPr>
          <p:spPr>
            <a:xfrm>
              <a:off x="0" y="33020"/>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225" name="Conclusion"/>
            <p:cNvSpPr/>
            <p:nvPr/>
          </p:nvSpPr>
          <p:spPr>
            <a:xfrm>
              <a:off x="45719" y="185420"/>
              <a:ext cx="905256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Book Antiqua"/>
                  <a:ea typeface="Book Antiqua"/>
                  <a:cs typeface="Book Antiqua"/>
                  <a:sym typeface="Book Antiqua"/>
                </a:defRPr>
              </a:lvl1pPr>
            </a:lstStyle>
            <a:p>
              <a:pPr/>
              <a:r>
                <a:t>Conclusion</a:t>
              </a:r>
            </a:p>
          </p:txBody>
        </p:sp>
      </p:grpSp>
      <p:sp>
        <p:nvSpPr>
          <p:cNvPr id="227" name="Rectangle 1"/>
          <p:cNvSpPr txBox="1"/>
          <p:nvPr>
            <p:ph type="subTitle" idx="1"/>
          </p:nvPr>
        </p:nvSpPr>
        <p:spPr>
          <a:xfrm>
            <a:off x="263740" y="830913"/>
            <a:ext cx="8616520" cy="5456526"/>
          </a:xfrm>
          <a:prstGeom prst="rect">
            <a:avLst/>
          </a:prstGeom>
        </p:spPr>
        <p:txBody>
          <a:bodyPr anchor="ctr"/>
          <a:lstStyle/>
          <a:p>
            <a:pPr marL="120315" indent="-120315" algn="l" defTabSz="457200">
              <a:spcBef>
                <a:spcPts val="1200"/>
              </a:spcBef>
              <a:buSzPct val="100000"/>
              <a:buChar char="•"/>
              <a:defRPr sz="2000">
                <a:solidFill>
                  <a:srgbClr val="000000"/>
                </a:solidFill>
                <a:latin typeface="Times New Roman"/>
                <a:ea typeface="Times New Roman"/>
                <a:cs typeface="Times New Roman"/>
                <a:sym typeface="Times New Roman"/>
              </a:defRPr>
            </a:pPr>
            <a:r>
              <a:t>NeuroSense  presents an intelligent approach for early screening of Autism Spectrum Disorder.</a:t>
            </a:r>
          </a:p>
          <a:p>
            <a:pPr marL="120315" indent="-120315" algn="l" defTabSz="457200">
              <a:spcBef>
                <a:spcPts val="1200"/>
              </a:spcBef>
              <a:buSzPct val="100000"/>
              <a:buChar char="•"/>
              <a:defRPr sz="2000">
                <a:solidFill>
                  <a:srgbClr val="000000"/>
                </a:solidFill>
                <a:latin typeface="Times New Roman"/>
                <a:ea typeface="Times New Roman"/>
                <a:cs typeface="Times New Roman"/>
                <a:sym typeface="Times New Roman"/>
              </a:defRPr>
            </a:pPr>
            <a:r>
              <a:t>The system combines questionnaire data, facial analysis, gaze tracking, and speech analysis for better accuracy.</a:t>
            </a:r>
          </a:p>
          <a:p>
            <a:pPr marL="120315" indent="-120315" algn="l" defTabSz="457200">
              <a:spcBef>
                <a:spcPts val="1200"/>
              </a:spcBef>
              <a:buSzPct val="100000"/>
              <a:buChar char="•"/>
              <a:defRPr sz="2000">
                <a:solidFill>
                  <a:srgbClr val="000000"/>
                </a:solidFill>
                <a:latin typeface="Times New Roman"/>
                <a:ea typeface="Times New Roman"/>
                <a:cs typeface="Times New Roman"/>
                <a:sym typeface="Times New Roman"/>
              </a:defRPr>
            </a:pPr>
            <a:r>
              <a:t>Multimodal integration improves reliability compared to traditional single-method screening.</a:t>
            </a:r>
          </a:p>
          <a:p>
            <a:pPr marL="120315" indent="-120315" algn="l" defTabSz="457200">
              <a:spcBef>
                <a:spcPts val="1200"/>
              </a:spcBef>
              <a:buSzPct val="100000"/>
              <a:buChar char="•"/>
              <a:defRPr sz="2000">
                <a:solidFill>
                  <a:srgbClr val="000000"/>
                </a:solidFill>
                <a:latin typeface="Times New Roman"/>
                <a:ea typeface="Times New Roman"/>
                <a:cs typeface="Times New Roman"/>
                <a:sym typeface="Times New Roman"/>
              </a:defRPr>
            </a:pPr>
            <a:r>
              <a:t>Explainable AI provides clear insights into how predictions are made.</a:t>
            </a:r>
          </a:p>
          <a:p>
            <a:pPr marL="120315" indent="-120315" algn="l" defTabSz="457200">
              <a:spcBef>
                <a:spcPts val="1200"/>
              </a:spcBef>
              <a:buSzPct val="100000"/>
              <a:buChar char="•"/>
              <a:defRPr sz="2000">
                <a:solidFill>
                  <a:srgbClr val="000000"/>
                </a:solidFill>
                <a:latin typeface="Times New Roman"/>
                <a:ea typeface="Times New Roman"/>
                <a:cs typeface="Times New Roman"/>
                <a:sym typeface="Times New Roman"/>
              </a:defRPr>
            </a:pPr>
            <a:r>
              <a:t>The system is scalable, user-friendly, and suitable for real-world applications.</a:t>
            </a:r>
          </a:p>
          <a:p>
            <a:pPr marL="120315" indent="-120315" algn="l" defTabSz="457200">
              <a:spcBef>
                <a:spcPts val="1200"/>
              </a:spcBef>
              <a:buSzPct val="100000"/>
              <a:buChar char="•"/>
              <a:defRPr sz="2000">
                <a:solidFill>
                  <a:srgbClr val="000000"/>
                </a:solidFill>
                <a:latin typeface="Times New Roman"/>
                <a:ea typeface="Times New Roman"/>
                <a:cs typeface="Times New Roman"/>
                <a:sym typeface="Times New Roman"/>
              </a:defRPr>
            </a:pPr>
            <a:r>
              <a:t>It can support early detection, enabling timely intervention and better outcomes.</a:t>
            </a:r>
          </a:p>
        </p:txBody>
      </p:sp>
      <p:grpSp>
        <p:nvGrpSpPr>
          <p:cNvPr id="230" name="Footer Placeholder 6"/>
          <p:cNvGrpSpPr/>
          <p:nvPr/>
        </p:nvGrpSpPr>
        <p:grpSpPr>
          <a:xfrm>
            <a:off x="0" y="6492875"/>
            <a:ext cx="9144000" cy="365125"/>
            <a:chOff x="0" y="0"/>
            <a:chExt cx="9144000" cy="365125"/>
          </a:xfrm>
        </p:grpSpPr>
        <p:sp>
          <p:nvSpPr>
            <p:cNvPr id="228"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229"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a:t>
              </a:r>
            </a:p>
          </p:txBody>
        </p:sp>
      </p:grpSp>
      <p:pic>
        <p:nvPicPr>
          <p:cNvPr id="231" name="Picture 1" descr="Picture 1"/>
          <p:cNvPicPr>
            <a:picLocks noChangeAspect="1"/>
          </p:cNvPicPr>
          <p:nvPr/>
        </p:nvPicPr>
        <p:blipFill>
          <a:blip r:embed="rId2">
            <a:extLst/>
          </a:blip>
          <a:stretch>
            <a:fillRect/>
          </a:stretch>
        </p:blipFill>
        <p:spPr>
          <a:xfrm>
            <a:off x="76200" y="6475491"/>
            <a:ext cx="375082" cy="382510"/>
          </a:xfrm>
          <a:prstGeom prst="rect">
            <a:avLst/>
          </a:prstGeom>
          <a:ln w="12700">
            <a:miter lim="400000"/>
          </a:ln>
        </p:spPr>
      </p:pic>
      <p:sp>
        <p:nvSpPr>
          <p:cNvPr id="232" name="TextBox 6"/>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21</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Title 1"/>
          <p:cNvSpPr txBox="1"/>
          <p:nvPr>
            <p:ph type="ctrTitle"/>
          </p:nvPr>
        </p:nvSpPr>
        <p:spPr>
          <a:xfrm>
            <a:off x="539551" y="219188"/>
            <a:ext cx="7772401" cy="1470026"/>
          </a:xfrm>
          <a:prstGeom prst="rect">
            <a:avLst/>
          </a:prstGeom>
        </p:spPr>
        <p:txBody>
          <a:bodyPr/>
          <a:lstStyle>
            <a:lvl1pPr>
              <a:defRPr b="1" sz="2800">
                <a:solidFill>
                  <a:schemeClr val="accent3"/>
                </a:solidFill>
                <a:latin typeface="Times New Roman"/>
                <a:ea typeface="Times New Roman"/>
                <a:cs typeface="Times New Roman"/>
                <a:sym typeface="Times New Roman"/>
              </a:defRPr>
            </a:lvl1pPr>
          </a:lstStyle>
          <a:p>
            <a:pPr/>
            <a:r>
              <a:t>REFERENCES</a:t>
            </a:r>
          </a:p>
        </p:txBody>
      </p:sp>
      <p:sp>
        <p:nvSpPr>
          <p:cNvPr id="235" name="Subtitle 2"/>
          <p:cNvSpPr txBox="1"/>
          <p:nvPr>
            <p:ph type="subTitle" idx="1"/>
          </p:nvPr>
        </p:nvSpPr>
        <p:spPr>
          <a:xfrm>
            <a:off x="503547" y="1717544"/>
            <a:ext cx="8136906" cy="4069754"/>
          </a:xfrm>
          <a:prstGeom prst="rect">
            <a:avLst/>
          </a:prstGeom>
        </p:spPr>
        <p:txBody>
          <a:bodyPr/>
          <a:lstStyle/>
          <a:p>
            <a:pPr algn="l" defTabSz="393192">
              <a:spcBef>
                <a:spcPts val="1000"/>
              </a:spcBef>
              <a:defRPr i="1" sz="1634">
                <a:solidFill>
                  <a:srgbClr val="000000"/>
                </a:solidFill>
                <a:latin typeface="Times Roman"/>
                <a:ea typeface="Times Roman"/>
                <a:cs typeface="Times Roman"/>
                <a:sym typeface="Times Roman"/>
              </a:defRPr>
            </a:pPr>
            <a:r>
              <a:rPr i="0"/>
              <a:t>[1] F. Thabtah, </a:t>
            </a:r>
            <a:r>
              <a:t>“Machine Learning for Autism Spectrum Disorder Detection,”</a:t>
            </a:r>
            <a:r>
              <a:rPr i="0"/>
              <a:t> 2019.</a:t>
            </a:r>
            <a:endParaRPr i="0"/>
          </a:p>
          <a:p>
            <a:pPr algn="l" defTabSz="393192">
              <a:spcBef>
                <a:spcPts val="1000"/>
              </a:spcBef>
              <a:defRPr i="1" sz="1634">
                <a:solidFill>
                  <a:srgbClr val="000000"/>
                </a:solidFill>
                <a:latin typeface="Times Roman"/>
                <a:ea typeface="Times Roman"/>
                <a:cs typeface="Times Roman"/>
                <a:sym typeface="Times Roman"/>
              </a:defRPr>
            </a:pPr>
            <a:r>
              <a:rPr i="0"/>
              <a:t>[2] M. Duda, R. Ma, N. Haber, and D. Wall, </a:t>
            </a:r>
            <a:r>
              <a:t>“Use of Machine Learning for Behavioral ASD Screening,”</a:t>
            </a:r>
            <a:r>
              <a:rPr i="0"/>
              <a:t> 2016.</a:t>
            </a:r>
            <a:endParaRPr i="0"/>
          </a:p>
          <a:p>
            <a:pPr algn="l" defTabSz="393192">
              <a:spcBef>
                <a:spcPts val="1000"/>
              </a:spcBef>
              <a:defRPr i="1" sz="1634">
                <a:solidFill>
                  <a:srgbClr val="000000"/>
                </a:solidFill>
                <a:latin typeface="Times Roman"/>
                <a:ea typeface="Times Roman"/>
                <a:cs typeface="Times Roman"/>
                <a:sym typeface="Times Roman"/>
              </a:defRPr>
            </a:pPr>
            <a:r>
              <a:rPr i="0"/>
              <a:t>[3] M. Hashemi et al., </a:t>
            </a:r>
            <a:r>
              <a:t>“Facial Expression Recognition in Children with Autism Using Deep Learning,”</a:t>
            </a:r>
            <a:r>
              <a:rPr i="0"/>
              <a:t> 2018.</a:t>
            </a:r>
            <a:endParaRPr i="0"/>
          </a:p>
          <a:p>
            <a:pPr algn="l" defTabSz="393192">
              <a:spcBef>
                <a:spcPts val="1000"/>
              </a:spcBef>
              <a:defRPr i="1" sz="1634">
                <a:solidFill>
                  <a:srgbClr val="000000"/>
                </a:solidFill>
                <a:latin typeface="Times Roman"/>
                <a:ea typeface="Times Roman"/>
                <a:cs typeface="Times Roman"/>
                <a:sym typeface="Times Roman"/>
              </a:defRPr>
            </a:pPr>
            <a:r>
              <a:rPr i="0"/>
              <a:t>[4] W. Jones and A. Klin, </a:t>
            </a:r>
            <a:r>
              <a:t>“Attention to Eyes is Present but Declines in Autism,”</a:t>
            </a:r>
            <a:r>
              <a:rPr i="0"/>
              <a:t> 2013.</a:t>
            </a:r>
            <a:endParaRPr i="0"/>
          </a:p>
          <a:p>
            <a:pPr algn="l" defTabSz="393192">
              <a:spcBef>
                <a:spcPts val="1000"/>
              </a:spcBef>
              <a:defRPr i="1" sz="1634">
                <a:solidFill>
                  <a:srgbClr val="000000"/>
                </a:solidFill>
                <a:latin typeface="Times Roman"/>
                <a:ea typeface="Times Roman"/>
                <a:cs typeface="Times Roman"/>
                <a:sym typeface="Times Roman"/>
              </a:defRPr>
            </a:pPr>
            <a:r>
              <a:rPr i="0"/>
              <a:t>[5] D. Bone et al., </a:t>
            </a:r>
            <a:r>
              <a:t>“Use of Speech Patterns for Autism Detection,”</a:t>
            </a:r>
            <a:r>
              <a:rPr i="0"/>
              <a:t> 2014.</a:t>
            </a:r>
            <a:endParaRPr i="0"/>
          </a:p>
          <a:p>
            <a:pPr algn="l" defTabSz="393192">
              <a:spcBef>
                <a:spcPts val="1000"/>
              </a:spcBef>
              <a:defRPr sz="1634">
                <a:solidFill>
                  <a:srgbClr val="000000"/>
                </a:solidFill>
                <a:latin typeface="Times Roman"/>
                <a:ea typeface="Times Roman"/>
                <a:cs typeface="Times Roman"/>
                <a:sym typeface="Times Roman"/>
              </a:defRPr>
            </a:pPr>
            <a:r>
              <a:t>[6] T. Baltrušaitis, C. Ahuja, and L. Morency, </a:t>
            </a:r>
            <a:r>
              <a:rPr i="1"/>
              <a:t>“Multimodal Machine Learning: A Survey,”</a:t>
            </a:r>
            <a:r>
              <a:t> 2019.</a:t>
            </a:r>
          </a:p>
          <a:p>
            <a:pPr algn="l" defTabSz="393192">
              <a:spcBef>
                <a:spcPts val="1000"/>
              </a:spcBef>
              <a:defRPr i="1" sz="1634">
                <a:solidFill>
                  <a:srgbClr val="000000"/>
                </a:solidFill>
                <a:latin typeface="Times Roman"/>
                <a:ea typeface="Times Roman"/>
                <a:cs typeface="Times Roman"/>
                <a:sym typeface="Times Roman"/>
              </a:defRPr>
            </a:pPr>
            <a:r>
              <a:rPr i="0"/>
              <a:t>[7] M. T. Ribeiro, S. Singh, and C. Guestrin, </a:t>
            </a:r>
            <a:r>
              <a:t>“Why Should I Trust You? Explaining Predictions using LIME,”</a:t>
            </a:r>
            <a:r>
              <a:rPr i="0"/>
              <a:t> 2016.</a:t>
            </a:r>
            <a:endParaRPr i="0"/>
          </a:p>
          <a:p>
            <a:pPr algn="l" defTabSz="393192">
              <a:spcBef>
                <a:spcPts val="1000"/>
              </a:spcBef>
              <a:defRPr sz="1634">
                <a:solidFill>
                  <a:srgbClr val="000000"/>
                </a:solidFill>
                <a:latin typeface="Times Roman"/>
                <a:ea typeface="Times Roman"/>
                <a:cs typeface="Times Roman"/>
                <a:sym typeface="Times Roman"/>
              </a:defRPr>
            </a:pPr>
            <a:r>
              <a:t>[8] I. Goodfellow, Y. Bengio, and A. Courville, </a:t>
            </a:r>
            <a:r>
              <a:rPr i="1"/>
              <a:t>“Deep Learning,”</a:t>
            </a:r>
            <a:r>
              <a:t> MIT Press, 2016.</a:t>
            </a:r>
          </a:p>
        </p:txBody>
      </p:sp>
      <p:grpSp>
        <p:nvGrpSpPr>
          <p:cNvPr id="238" name="Title 1"/>
          <p:cNvGrpSpPr/>
          <p:nvPr/>
        </p:nvGrpSpPr>
        <p:grpSpPr>
          <a:xfrm>
            <a:off x="0" y="0"/>
            <a:ext cx="9144000" cy="304800"/>
            <a:chOff x="0" y="33020"/>
            <a:chExt cx="9144000" cy="304800"/>
          </a:xfrm>
        </p:grpSpPr>
        <p:sp>
          <p:nvSpPr>
            <p:cNvPr id="236" name="Rectangle"/>
            <p:cNvSpPr/>
            <p:nvPr/>
          </p:nvSpPr>
          <p:spPr>
            <a:xfrm>
              <a:off x="0" y="33020"/>
              <a:ext cx="9144000" cy="304801"/>
            </a:xfrm>
            <a:prstGeom prst="rect">
              <a:avLst/>
            </a:prstGeom>
            <a:solidFill>
              <a:schemeClr val="accent1"/>
            </a:solidFill>
            <a:ln w="12700" cap="flat">
              <a:noFill/>
              <a:miter lim="400000"/>
            </a:ln>
            <a:effectLst/>
          </p:spPr>
          <p:txBody>
            <a:bodyPr wrap="square" lIns="45719" tIns="45719" rIns="45719" bIns="45719" numCol="1" anchor="ctr">
              <a:noAutofit/>
            </a:bodyPr>
            <a:lstStyle/>
            <a:p>
              <a:pPr>
                <a:defRPr b="1">
                  <a:latin typeface="Book Antiqua"/>
                  <a:ea typeface="Book Antiqua"/>
                  <a:cs typeface="Book Antiqua"/>
                  <a:sym typeface="Book Antiqua"/>
                </a:defRPr>
              </a:pPr>
            </a:p>
          </p:txBody>
        </p:sp>
        <p:sp>
          <p:nvSpPr>
            <p:cNvPr id="237" name="References"/>
            <p:cNvSpPr/>
            <p:nvPr/>
          </p:nvSpPr>
          <p:spPr>
            <a:xfrm>
              <a:off x="45719" y="185420"/>
              <a:ext cx="9052561"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latin typeface="Book Antiqua"/>
                  <a:ea typeface="Book Antiqua"/>
                  <a:cs typeface="Book Antiqua"/>
                  <a:sym typeface="Book Antiqua"/>
                </a:defRPr>
              </a:lvl1pPr>
            </a:lstStyle>
            <a:p>
              <a:pPr/>
              <a:r>
                <a:t>References</a:t>
              </a:r>
            </a:p>
          </p:txBody>
        </p:sp>
      </p:grpSp>
      <p:grpSp>
        <p:nvGrpSpPr>
          <p:cNvPr id="241" name="Footer Placeholder 6"/>
          <p:cNvGrpSpPr/>
          <p:nvPr/>
        </p:nvGrpSpPr>
        <p:grpSpPr>
          <a:xfrm>
            <a:off x="0" y="6492875"/>
            <a:ext cx="9144000" cy="365125"/>
            <a:chOff x="0" y="0"/>
            <a:chExt cx="9144000" cy="365125"/>
          </a:xfrm>
        </p:grpSpPr>
        <p:sp>
          <p:nvSpPr>
            <p:cNvPr id="239" name="Rectangle"/>
            <p:cNvSpPr/>
            <p:nvPr/>
          </p:nvSpPr>
          <p:spPr>
            <a:xfrm>
              <a:off x="0" y="0"/>
              <a:ext cx="9144000" cy="365125"/>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240" name="Dept. of ISE, SIT, Tumkur"/>
            <p:cNvSpPr txBox="1"/>
            <p:nvPr/>
          </p:nvSpPr>
          <p:spPr>
            <a:xfrm>
              <a:off x="45719" y="58410"/>
              <a:ext cx="905256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200"/>
              </a:lvl1pPr>
            </a:lstStyle>
            <a:p>
              <a:pPr/>
              <a:r>
                <a:t>Dept. of ISE, SIT, Tumkur</a:t>
              </a:r>
            </a:p>
          </p:txBody>
        </p:sp>
      </p:grpSp>
      <p:pic>
        <p:nvPicPr>
          <p:cNvPr id="242" name="Picture 1" descr="Picture 1"/>
          <p:cNvPicPr>
            <a:picLocks noChangeAspect="1"/>
          </p:cNvPicPr>
          <p:nvPr/>
        </p:nvPicPr>
        <p:blipFill>
          <a:blip r:embed="rId2">
            <a:extLst/>
          </a:blip>
          <a:stretch>
            <a:fillRect/>
          </a:stretch>
        </p:blipFill>
        <p:spPr>
          <a:xfrm>
            <a:off x="76200" y="6475491"/>
            <a:ext cx="375082" cy="382510"/>
          </a:xfrm>
          <a:prstGeom prst="rect">
            <a:avLst/>
          </a:prstGeom>
          <a:ln w="12700">
            <a:miter lim="400000"/>
          </a:ln>
        </p:spPr>
      </p:pic>
      <p:sp>
        <p:nvSpPr>
          <p:cNvPr id="243" name="TextBox 7"/>
          <p:cNvSpPr txBox="1"/>
          <p:nvPr/>
        </p:nvSpPr>
        <p:spPr>
          <a:xfrm>
            <a:off x="8650167" y="6492875"/>
            <a:ext cx="371913"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22</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